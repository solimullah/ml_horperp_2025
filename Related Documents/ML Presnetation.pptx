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Lst>
  <p:notesMasterIdLst>
    <p:notesMasterId r:id="rId16"/>
  </p:notesMasterIdLst>
  <p:sldIdLst>
    <p:sldId id="256" r:id="rId2"/>
    <p:sldId id="279" r:id="rId3"/>
    <p:sldId id="270" r:id="rId4"/>
    <p:sldId id="257" r:id="rId5"/>
    <p:sldId id="269" r:id="rId6"/>
    <p:sldId id="285" r:id="rId7"/>
    <p:sldId id="286" r:id="rId8"/>
    <p:sldId id="287" r:id="rId9"/>
    <p:sldId id="262" r:id="rId10"/>
    <p:sldId id="282" r:id="rId11"/>
    <p:sldId id="288" r:id="rId12"/>
    <p:sldId id="263" r:id="rId13"/>
    <p:sldId id="277" r:id="rId14"/>
    <p:sldId id="264" r:id="rId15"/>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0"/>
  </p:normalViewPr>
  <p:slideViewPr>
    <p:cSldViewPr snapToGrid="0">
      <p:cViewPr varScale="1">
        <p:scale>
          <a:sx n="118" d="100"/>
          <a:sy n="118" d="100"/>
        </p:scale>
        <p:origin x="60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10A8F-EF3D-4B94-B8DD-8A559847BC33}" type="datetimeFigureOut">
              <a:rPr lang="en-GB" smtClean="0"/>
              <a:t>30/03/2025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357C7D-E928-4E1B-AAA1-B8117015D925}" type="slidenum">
              <a:rPr lang="en-GB" smtClean="0"/>
              <a:t>‹#›</a:t>
            </a:fld>
            <a:endParaRPr lang="en-GB"/>
          </a:p>
        </p:txBody>
      </p:sp>
    </p:spTree>
    <p:extLst>
      <p:ext uri="{BB962C8B-B14F-4D97-AF65-F5344CB8AC3E}">
        <p14:creationId xmlns:p14="http://schemas.microsoft.com/office/powerpoint/2010/main" val="1944100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D357C7D-E928-4E1B-AAA1-B8117015D925}" type="slidenum">
              <a:rPr lang="en-GB" smtClean="0"/>
              <a:t>1</a:t>
            </a:fld>
            <a:endParaRPr lang="en-GB"/>
          </a:p>
        </p:txBody>
      </p:sp>
    </p:spTree>
    <p:extLst>
      <p:ext uri="{BB962C8B-B14F-4D97-AF65-F5344CB8AC3E}">
        <p14:creationId xmlns:p14="http://schemas.microsoft.com/office/powerpoint/2010/main" val="3768403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D357C7D-E928-4E1B-AAA1-B8117015D925}" type="slidenum">
              <a:rPr lang="en-GB" smtClean="0"/>
              <a:t>2</a:t>
            </a:fld>
            <a:endParaRPr lang="en-GB"/>
          </a:p>
        </p:txBody>
      </p:sp>
    </p:spTree>
    <p:extLst>
      <p:ext uri="{BB962C8B-B14F-4D97-AF65-F5344CB8AC3E}">
        <p14:creationId xmlns:p14="http://schemas.microsoft.com/office/powerpoint/2010/main" val="1771235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GB" dirty="0"/>
          </a:p>
        </p:txBody>
      </p:sp>
      <p:sp>
        <p:nvSpPr>
          <p:cNvPr id="4" name="Slide Number Placeholder 3"/>
          <p:cNvSpPr>
            <a:spLocks noGrp="1"/>
          </p:cNvSpPr>
          <p:nvPr>
            <p:ph type="sldNum" sz="quarter" idx="5"/>
          </p:nvPr>
        </p:nvSpPr>
        <p:spPr/>
        <p:txBody>
          <a:bodyPr/>
          <a:lstStyle/>
          <a:p>
            <a:fld id="{CD357C7D-E928-4E1B-AAA1-B8117015D925}" type="slidenum">
              <a:rPr lang="en-GB" smtClean="0"/>
              <a:t>4</a:t>
            </a:fld>
            <a:endParaRPr lang="en-GB"/>
          </a:p>
        </p:txBody>
      </p:sp>
    </p:spTree>
    <p:extLst>
      <p:ext uri="{BB962C8B-B14F-4D97-AF65-F5344CB8AC3E}">
        <p14:creationId xmlns:p14="http://schemas.microsoft.com/office/powerpoint/2010/main" val="2380288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D357C7D-E928-4E1B-AAA1-B8117015D925}" type="slidenum">
              <a:rPr lang="en-GB" smtClean="0"/>
              <a:t>5</a:t>
            </a:fld>
            <a:endParaRPr lang="en-GB"/>
          </a:p>
        </p:txBody>
      </p:sp>
    </p:spTree>
    <p:extLst>
      <p:ext uri="{BB962C8B-B14F-4D97-AF65-F5344CB8AC3E}">
        <p14:creationId xmlns:p14="http://schemas.microsoft.com/office/powerpoint/2010/main" val="2008995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F4BDF-39DD-D7AC-13D2-E20F1B118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778B8-0541-09DD-EA79-912EDCF52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65DF5-99B8-2C63-71A1-581B4A14F235}"/>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EB49DC9A-D9AD-378C-40B3-4B4C2F55A012}"/>
              </a:ext>
            </a:extLst>
          </p:cNvPr>
          <p:cNvSpPr>
            <a:spLocks noGrp="1"/>
          </p:cNvSpPr>
          <p:nvPr>
            <p:ph type="sldNum" sz="quarter" idx="5"/>
          </p:nvPr>
        </p:nvSpPr>
        <p:spPr/>
        <p:txBody>
          <a:bodyPr/>
          <a:lstStyle/>
          <a:p>
            <a:fld id="{CD357C7D-E928-4E1B-AAA1-B8117015D925}" type="slidenum">
              <a:rPr lang="en-GB" smtClean="0"/>
              <a:t>6</a:t>
            </a:fld>
            <a:endParaRPr lang="en-GB"/>
          </a:p>
        </p:txBody>
      </p:sp>
    </p:spTree>
    <p:extLst>
      <p:ext uri="{BB962C8B-B14F-4D97-AF65-F5344CB8AC3E}">
        <p14:creationId xmlns:p14="http://schemas.microsoft.com/office/powerpoint/2010/main" val="1269788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53CE5-9C0C-F188-FA09-6C58A70C6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93363-EA02-8AF6-C929-1F0120440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BFDA2-4F6D-80B0-939F-E02D8D5E648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370F3C38-0255-7976-BAA2-F529C742E305}"/>
              </a:ext>
            </a:extLst>
          </p:cNvPr>
          <p:cNvSpPr>
            <a:spLocks noGrp="1"/>
          </p:cNvSpPr>
          <p:nvPr>
            <p:ph type="sldNum" sz="quarter" idx="5"/>
          </p:nvPr>
        </p:nvSpPr>
        <p:spPr/>
        <p:txBody>
          <a:bodyPr/>
          <a:lstStyle/>
          <a:p>
            <a:fld id="{CD357C7D-E928-4E1B-AAA1-B8117015D925}" type="slidenum">
              <a:rPr lang="en-GB" smtClean="0"/>
              <a:t>7</a:t>
            </a:fld>
            <a:endParaRPr lang="en-GB"/>
          </a:p>
        </p:txBody>
      </p:sp>
    </p:spTree>
    <p:extLst>
      <p:ext uri="{BB962C8B-B14F-4D97-AF65-F5344CB8AC3E}">
        <p14:creationId xmlns:p14="http://schemas.microsoft.com/office/powerpoint/2010/main" val="2537781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633B-53D4-C7F1-16D2-279BDFB4D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F9054-E64F-2D0B-60D8-D387F34BA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ECA632-A906-553B-CF96-AB420B576033}"/>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85468839-C141-5116-AF11-223E027DD5A9}"/>
              </a:ext>
            </a:extLst>
          </p:cNvPr>
          <p:cNvSpPr>
            <a:spLocks noGrp="1"/>
          </p:cNvSpPr>
          <p:nvPr>
            <p:ph type="sldNum" sz="quarter" idx="5"/>
          </p:nvPr>
        </p:nvSpPr>
        <p:spPr/>
        <p:txBody>
          <a:bodyPr/>
          <a:lstStyle/>
          <a:p>
            <a:fld id="{CD357C7D-E928-4E1B-AAA1-B8117015D925}" type="slidenum">
              <a:rPr lang="en-GB" smtClean="0"/>
              <a:t>8</a:t>
            </a:fld>
            <a:endParaRPr lang="en-GB"/>
          </a:p>
        </p:txBody>
      </p:sp>
    </p:spTree>
    <p:extLst>
      <p:ext uri="{BB962C8B-B14F-4D97-AF65-F5344CB8AC3E}">
        <p14:creationId xmlns:p14="http://schemas.microsoft.com/office/powerpoint/2010/main" val="3171850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D357C7D-E928-4E1B-AAA1-B8117015D925}" type="slidenum">
              <a:rPr lang="en-GB" smtClean="0"/>
              <a:t>9</a:t>
            </a:fld>
            <a:endParaRPr lang="en-GB"/>
          </a:p>
        </p:txBody>
      </p:sp>
    </p:spTree>
    <p:extLst>
      <p:ext uri="{BB962C8B-B14F-4D97-AF65-F5344CB8AC3E}">
        <p14:creationId xmlns:p14="http://schemas.microsoft.com/office/powerpoint/2010/main" val="1497224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D357C7D-E928-4E1B-AAA1-B8117015D925}" type="slidenum">
              <a:rPr lang="en-GB" smtClean="0"/>
              <a:t>10</a:t>
            </a:fld>
            <a:endParaRPr lang="en-GB"/>
          </a:p>
        </p:txBody>
      </p:sp>
    </p:spTree>
    <p:extLst>
      <p:ext uri="{BB962C8B-B14F-4D97-AF65-F5344CB8AC3E}">
        <p14:creationId xmlns:p14="http://schemas.microsoft.com/office/powerpoint/2010/main" val="1279955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9E033-AB49-DF58-44DF-BF6176F0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E2EDF-6F4D-14AA-F1C6-4A75EFFE5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DFC82-1EF8-E823-36C3-2EC866B69643}"/>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D7CFC26F-3F2A-92F1-10AC-DF0CA47AED58}"/>
              </a:ext>
            </a:extLst>
          </p:cNvPr>
          <p:cNvSpPr>
            <a:spLocks noGrp="1"/>
          </p:cNvSpPr>
          <p:nvPr>
            <p:ph type="sldNum" sz="quarter" idx="5"/>
          </p:nvPr>
        </p:nvSpPr>
        <p:spPr/>
        <p:txBody>
          <a:bodyPr/>
          <a:lstStyle/>
          <a:p>
            <a:fld id="{CD357C7D-E928-4E1B-AAA1-B8117015D925}" type="slidenum">
              <a:rPr lang="en-GB" smtClean="0"/>
              <a:t>11</a:t>
            </a:fld>
            <a:endParaRPr lang="en-GB"/>
          </a:p>
        </p:txBody>
      </p:sp>
    </p:spTree>
    <p:extLst>
      <p:ext uri="{BB962C8B-B14F-4D97-AF65-F5344CB8AC3E}">
        <p14:creationId xmlns:p14="http://schemas.microsoft.com/office/powerpoint/2010/main" val="2353812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DF982-338A-5A01-D74E-EDEAF97CA7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D73D6FBF-D764-2F01-D352-879AFBF480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83E0CE8C-0887-55E9-C4C8-C415642461FB}"/>
              </a:ext>
            </a:extLst>
          </p:cNvPr>
          <p:cNvSpPr>
            <a:spLocks noGrp="1"/>
          </p:cNvSpPr>
          <p:nvPr>
            <p:ph type="dt" sz="half" idx="10"/>
          </p:nvPr>
        </p:nvSpPr>
        <p:spPr/>
        <p:txBody>
          <a:bodyPr/>
          <a:lstStyle/>
          <a:p>
            <a:pPr algn="l"/>
            <a:fld id="{9DAE42CC-54F2-4371-8B7D-45825AA60A72}" type="datetime1">
              <a:rPr lang="en-US" smtClean="0"/>
              <a:t>3/30/25</a:t>
            </a:fld>
            <a:endParaRPr lang="en-US" dirty="0"/>
          </a:p>
        </p:txBody>
      </p:sp>
      <p:sp>
        <p:nvSpPr>
          <p:cNvPr id="5" name="Footer Placeholder 4">
            <a:extLst>
              <a:ext uri="{FF2B5EF4-FFF2-40B4-BE49-F238E27FC236}">
                <a16:creationId xmlns:a16="http://schemas.microsoft.com/office/drawing/2014/main" id="{AA25BA22-D46B-5E55-F159-85EDB1805CA8}"/>
              </a:ext>
            </a:extLst>
          </p:cNvPr>
          <p:cNvSpPr>
            <a:spLocks noGrp="1"/>
          </p:cNvSpPr>
          <p:nvPr>
            <p:ph type="ftr" sz="quarter" idx="11"/>
          </p:nvPr>
        </p:nvSpPr>
        <p:spPr/>
        <p:txBody>
          <a:bodyPr/>
          <a:lstStyle/>
          <a:p>
            <a:r>
              <a:rPr lang="en-GB"/>
              <a:t>Frankfurt University of Applied Sciences 2024/25</a:t>
            </a:r>
            <a:endParaRPr lang="en-US" dirty="0"/>
          </a:p>
        </p:txBody>
      </p:sp>
      <p:sp>
        <p:nvSpPr>
          <p:cNvPr id="6" name="Slide Number Placeholder 5">
            <a:extLst>
              <a:ext uri="{FF2B5EF4-FFF2-40B4-BE49-F238E27FC236}">
                <a16:creationId xmlns:a16="http://schemas.microsoft.com/office/drawing/2014/main" id="{A73CD491-8825-F352-BCE2-421611CA5F1E}"/>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3442971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8556-C3DD-D0A8-7417-66923D73AA3E}"/>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36F837FB-5869-87A9-6E27-B02B7FD2A1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230E5D98-345C-6BBB-DDCA-C76F860422BB}"/>
              </a:ext>
            </a:extLst>
          </p:cNvPr>
          <p:cNvSpPr>
            <a:spLocks noGrp="1"/>
          </p:cNvSpPr>
          <p:nvPr>
            <p:ph type="dt" sz="half" idx="10"/>
          </p:nvPr>
        </p:nvSpPr>
        <p:spPr/>
        <p:txBody>
          <a:bodyPr/>
          <a:lstStyle/>
          <a:p>
            <a:fld id="{2657DE8A-5CB4-44EE-9744-F301D6131B93}" type="datetime1">
              <a:rPr lang="en-US" smtClean="0"/>
              <a:t>3/30/25</a:t>
            </a:fld>
            <a:endParaRPr lang="en-US" dirty="0"/>
          </a:p>
        </p:txBody>
      </p:sp>
      <p:sp>
        <p:nvSpPr>
          <p:cNvPr id="5" name="Footer Placeholder 4">
            <a:extLst>
              <a:ext uri="{FF2B5EF4-FFF2-40B4-BE49-F238E27FC236}">
                <a16:creationId xmlns:a16="http://schemas.microsoft.com/office/drawing/2014/main" id="{1F066DEA-1CA6-AB86-476E-15AE98E6B77A}"/>
              </a:ext>
            </a:extLst>
          </p:cNvPr>
          <p:cNvSpPr>
            <a:spLocks noGrp="1"/>
          </p:cNvSpPr>
          <p:nvPr>
            <p:ph type="ftr" sz="quarter" idx="11"/>
          </p:nvPr>
        </p:nvSpPr>
        <p:spPr/>
        <p:txBody>
          <a:bodyPr/>
          <a:lstStyle/>
          <a:p>
            <a:r>
              <a:rPr lang="en-GB"/>
              <a:t>Frankfurt University of Applied Sciences 2023/24</a:t>
            </a:r>
            <a:endParaRPr lang="en-US" dirty="0"/>
          </a:p>
        </p:txBody>
      </p:sp>
      <p:sp>
        <p:nvSpPr>
          <p:cNvPr id="6" name="Slide Number Placeholder 5">
            <a:extLst>
              <a:ext uri="{FF2B5EF4-FFF2-40B4-BE49-F238E27FC236}">
                <a16:creationId xmlns:a16="http://schemas.microsoft.com/office/drawing/2014/main" id="{46805F13-624E-DFDA-8A47-9D3682C9CCAF}"/>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2405693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20FE-EA83-AB8A-179F-45144F80D7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CCBB3246-8F15-CA0E-31FA-A1DA2554E7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0FA42-1AC9-9129-7B42-C0372F063963}"/>
              </a:ext>
            </a:extLst>
          </p:cNvPr>
          <p:cNvSpPr>
            <a:spLocks noGrp="1"/>
          </p:cNvSpPr>
          <p:nvPr>
            <p:ph type="dt" sz="half" idx="10"/>
          </p:nvPr>
        </p:nvSpPr>
        <p:spPr/>
        <p:txBody>
          <a:bodyPr/>
          <a:lstStyle/>
          <a:p>
            <a:fld id="{5B2D2200-03CD-41DD-B0DF-8792C811816E}" type="datetime1">
              <a:rPr lang="en-US" smtClean="0"/>
              <a:t>3/30/25</a:t>
            </a:fld>
            <a:endParaRPr lang="en-US" dirty="0"/>
          </a:p>
        </p:txBody>
      </p:sp>
      <p:sp>
        <p:nvSpPr>
          <p:cNvPr id="5" name="Footer Placeholder 4">
            <a:extLst>
              <a:ext uri="{FF2B5EF4-FFF2-40B4-BE49-F238E27FC236}">
                <a16:creationId xmlns:a16="http://schemas.microsoft.com/office/drawing/2014/main" id="{EDDFFBE8-0DE2-5A08-6C90-9C96CBD49F2B}"/>
              </a:ext>
            </a:extLst>
          </p:cNvPr>
          <p:cNvSpPr>
            <a:spLocks noGrp="1"/>
          </p:cNvSpPr>
          <p:nvPr>
            <p:ph type="ftr" sz="quarter" idx="11"/>
          </p:nvPr>
        </p:nvSpPr>
        <p:spPr/>
        <p:txBody>
          <a:bodyPr/>
          <a:lstStyle/>
          <a:p>
            <a:r>
              <a:rPr lang="en-GB"/>
              <a:t>Frankfurt University of Applied Sciences 2023/24</a:t>
            </a:r>
            <a:endParaRPr lang="en-US" dirty="0"/>
          </a:p>
        </p:txBody>
      </p:sp>
      <p:sp>
        <p:nvSpPr>
          <p:cNvPr id="6" name="Slide Number Placeholder 5">
            <a:extLst>
              <a:ext uri="{FF2B5EF4-FFF2-40B4-BE49-F238E27FC236}">
                <a16:creationId xmlns:a16="http://schemas.microsoft.com/office/drawing/2014/main" id="{5630EDBD-D096-7B61-26D3-5920269560B8}"/>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3526554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CD54-4EC4-4272-BDCD-C5489E66D435}"/>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51E20A70-761C-0F23-90C2-3C9A3CD57E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7E6CD8CB-43DD-0A88-CDBB-550F74883D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A3B43F80-91CC-6482-9281-6057CECF074F}"/>
              </a:ext>
            </a:extLst>
          </p:cNvPr>
          <p:cNvSpPr>
            <a:spLocks noGrp="1"/>
          </p:cNvSpPr>
          <p:nvPr>
            <p:ph type="dt" sz="half" idx="10"/>
          </p:nvPr>
        </p:nvSpPr>
        <p:spPr/>
        <p:txBody>
          <a:bodyPr/>
          <a:lstStyle/>
          <a:p>
            <a:fld id="{ABCAD776-474D-4509-8ABD-B76E59C4EA47}" type="datetime1">
              <a:rPr lang="en-US" smtClean="0"/>
              <a:t>3/30/25</a:t>
            </a:fld>
            <a:endParaRPr lang="en-US" dirty="0"/>
          </a:p>
        </p:txBody>
      </p:sp>
      <p:sp>
        <p:nvSpPr>
          <p:cNvPr id="6" name="Footer Placeholder 5">
            <a:extLst>
              <a:ext uri="{FF2B5EF4-FFF2-40B4-BE49-F238E27FC236}">
                <a16:creationId xmlns:a16="http://schemas.microsoft.com/office/drawing/2014/main" id="{61B2A942-ACA9-42D0-623C-98FCE53C0727}"/>
              </a:ext>
            </a:extLst>
          </p:cNvPr>
          <p:cNvSpPr>
            <a:spLocks noGrp="1"/>
          </p:cNvSpPr>
          <p:nvPr>
            <p:ph type="ftr" sz="quarter" idx="11"/>
          </p:nvPr>
        </p:nvSpPr>
        <p:spPr/>
        <p:txBody>
          <a:bodyPr/>
          <a:lstStyle/>
          <a:p>
            <a:r>
              <a:rPr lang="en-GB"/>
              <a:t>Frankfurt University of Applied Sciences 2023/24</a:t>
            </a:r>
            <a:endParaRPr lang="en-US" dirty="0"/>
          </a:p>
        </p:txBody>
      </p:sp>
      <p:sp>
        <p:nvSpPr>
          <p:cNvPr id="7" name="Slide Number Placeholder 6">
            <a:extLst>
              <a:ext uri="{FF2B5EF4-FFF2-40B4-BE49-F238E27FC236}">
                <a16:creationId xmlns:a16="http://schemas.microsoft.com/office/drawing/2014/main" id="{B636EBD4-18F9-EC10-842E-91095CDE5CAF}"/>
              </a:ext>
            </a:extLst>
          </p:cNvPr>
          <p:cNvSpPr>
            <a:spLocks noGrp="1"/>
          </p:cNvSpPr>
          <p:nvPr>
            <p:ph type="sldNum" sz="quarter" idx="12"/>
          </p:nvPr>
        </p:nvSpPr>
        <p:spPr/>
        <p:txBody>
          <a:bodyPr/>
          <a:lstStyle/>
          <a:p>
            <a:fld id="{49ABCAEC-7D34-E549-A96E-FCEDAADBE4B0}" type="slidenum">
              <a:rPr lang="en-US" smtClean="0"/>
              <a:t>‹#›</a:t>
            </a:fld>
            <a:endParaRPr lang="en-US" dirty="0"/>
          </a:p>
        </p:txBody>
      </p:sp>
    </p:spTree>
    <p:extLst>
      <p:ext uri="{BB962C8B-B14F-4D97-AF65-F5344CB8AC3E}">
        <p14:creationId xmlns:p14="http://schemas.microsoft.com/office/powerpoint/2010/main" val="574149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22337-7508-0085-C751-88FFE0F6787C}"/>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28D125B8-68C6-8474-09C3-5170774F4D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4008B0-3469-366E-5F7F-B7AF714861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52799120-3DC2-F05B-6578-FE2B0E1B88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C09152-8A99-6E7C-34EC-0805E54E4C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8942793E-B7DF-EC11-4C67-3AEE11924E38}"/>
              </a:ext>
            </a:extLst>
          </p:cNvPr>
          <p:cNvSpPr>
            <a:spLocks noGrp="1"/>
          </p:cNvSpPr>
          <p:nvPr>
            <p:ph type="dt" sz="half" idx="10"/>
          </p:nvPr>
        </p:nvSpPr>
        <p:spPr/>
        <p:txBody>
          <a:bodyPr/>
          <a:lstStyle/>
          <a:p>
            <a:fld id="{03D317CA-E6EF-4799-A15F-9FA1B62F5FAD}" type="datetime1">
              <a:rPr lang="en-US" smtClean="0"/>
              <a:t>3/30/25</a:t>
            </a:fld>
            <a:endParaRPr lang="en-US" dirty="0"/>
          </a:p>
        </p:txBody>
      </p:sp>
      <p:sp>
        <p:nvSpPr>
          <p:cNvPr id="8" name="Footer Placeholder 7">
            <a:extLst>
              <a:ext uri="{FF2B5EF4-FFF2-40B4-BE49-F238E27FC236}">
                <a16:creationId xmlns:a16="http://schemas.microsoft.com/office/drawing/2014/main" id="{D490AF79-AA4F-198B-7F8E-3D401BAEB3CD}"/>
              </a:ext>
            </a:extLst>
          </p:cNvPr>
          <p:cNvSpPr>
            <a:spLocks noGrp="1"/>
          </p:cNvSpPr>
          <p:nvPr>
            <p:ph type="ftr" sz="quarter" idx="11"/>
          </p:nvPr>
        </p:nvSpPr>
        <p:spPr/>
        <p:txBody>
          <a:bodyPr/>
          <a:lstStyle/>
          <a:p>
            <a:r>
              <a:rPr lang="en-GB"/>
              <a:t>Frankfurt University of Applied Sciences 2023/24</a:t>
            </a:r>
            <a:endParaRPr lang="en-US" dirty="0"/>
          </a:p>
        </p:txBody>
      </p:sp>
      <p:sp>
        <p:nvSpPr>
          <p:cNvPr id="9" name="Slide Number Placeholder 8">
            <a:extLst>
              <a:ext uri="{FF2B5EF4-FFF2-40B4-BE49-F238E27FC236}">
                <a16:creationId xmlns:a16="http://schemas.microsoft.com/office/drawing/2014/main" id="{B019338F-3757-4B11-CBCD-8E0948B4EBCD}"/>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2069733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A3F00-1C38-D034-9A5F-7466CCA75DD7}"/>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55F07A66-2895-48CA-1B53-DE5A7678D642}"/>
              </a:ext>
            </a:extLst>
          </p:cNvPr>
          <p:cNvSpPr>
            <a:spLocks noGrp="1"/>
          </p:cNvSpPr>
          <p:nvPr>
            <p:ph type="dt" sz="half" idx="10"/>
          </p:nvPr>
        </p:nvSpPr>
        <p:spPr/>
        <p:txBody>
          <a:bodyPr/>
          <a:lstStyle/>
          <a:p>
            <a:fld id="{79D49B58-E195-4333-BEB2-A22152AB439D}" type="datetime1">
              <a:rPr lang="en-US" smtClean="0"/>
              <a:t>3/30/25</a:t>
            </a:fld>
            <a:endParaRPr lang="en-US" dirty="0"/>
          </a:p>
        </p:txBody>
      </p:sp>
      <p:sp>
        <p:nvSpPr>
          <p:cNvPr id="4" name="Footer Placeholder 3">
            <a:extLst>
              <a:ext uri="{FF2B5EF4-FFF2-40B4-BE49-F238E27FC236}">
                <a16:creationId xmlns:a16="http://schemas.microsoft.com/office/drawing/2014/main" id="{B7C6607C-EBE8-5FD7-6C8C-958FA34713A3}"/>
              </a:ext>
            </a:extLst>
          </p:cNvPr>
          <p:cNvSpPr>
            <a:spLocks noGrp="1"/>
          </p:cNvSpPr>
          <p:nvPr>
            <p:ph type="ftr" sz="quarter" idx="11"/>
          </p:nvPr>
        </p:nvSpPr>
        <p:spPr/>
        <p:txBody>
          <a:bodyPr/>
          <a:lstStyle/>
          <a:p>
            <a:r>
              <a:rPr lang="en-GB"/>
              <a:t>Frankfurt University of Applied Sciences 2023/24</a:t>
            </a:r>
            <a:endParaRPr lang="en-US"/>
          </a:p>
        </p:txBody>
      </p:sp>
      <p:sp>
        <p:nvSpPr>
          <p:cNvPr id="5" name="Slide Number Placeholder 4">
            <a:extLst>
              <a:ext uri="{FF2B5EF4-FFF2-40B4-BE49-F238E27FC236}">
                <a16:creationId xmlns:a16="http://schemas.microsoft.com/office/drawing/2014/main" id="{62D773A5-8041-FCF3-17E2-FE6608A87C67}"/>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191334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E51FE8-B4FB-1C90-A4B5-98698FD13BA2}"/>
              </a:ext>
            </a:extLst>
          </p:cNvPr>
          <p:cNvSpPr>
            <a:spLocks noGrp="1"/>
          </p:cNvSpPr>
          <p:nvPr>
            <p:ph type="dt" sz="half" idx="10"/>
          </p:nvPr>
        </p:nvSpPr>
        <p:spPr/>
        <p:txBody>
          <a:bodyPr/>
          <a:lstStyle/>
          <a:p>
            <a:fld id="{F610B6D6-6985-4098-BA4F-4F5BB359C165}" type="datetime1">
              <a:rPr lang="en-US" smtClean="0"/>
              <a:t>3/30/25</a:t>
            </a:fld>
            <a:endParaRPr lang="en-US" dirty="0"/>
          </a:p>
        </p:txBody>
      </p:sp>
      <p:sp>
        <p:nvSpPr>
          <p:cNvPr id="3" name="Footer Placeholder 2">
            <a:extLst>
              <a:ext uri="{FF2B5EF4-FFF2-40B4-BE49-F238E27FC236}">
                <a16:creationId xmlns:a16="http://schemas.microsoft.com/office/drawing/2014/main" id="{AF15D8C9-1F1D-B674-BDC7-2B78A032A448}"/>
              </a:ext>
            </a:extLst>
          </p:cNvPr>
          <p:cNvSpPr>
            <a:spLocks noGrp="1"/>
          </p:cNvSpPr>
          <p:nvPr>
            <p:ph type="ftr" sz="quarter" idx="11"/>
          </p:nvPr>
        </p:nvSpPr>
        <p:spPr/>
        <p:txBody>
          <a:bodyPr/>
          <a:lstStyle/>
          <a:p>
            <a:r>
              <a:rPr lang="en-GB"/>
              <a:t>Frankfurt University of Applied Sciences 2023/24</a:t>
            </a:r>
            <a:endParaRPr lang="en-US" dirty="0"/>
          </a:p>
        </p:txBody>
      </p:sp>
      <p:sp>
        <p:nvSpPr>
          <p:cNvPr id="4" name="Slide Number Placeholder 3">
            <a:extLst>
              <a:ext uri="{FF2B5EF4-FFF2-40B4-BE49-F238E27FC236}">
                <a16:creationId xmlns:a16="http://schemas.microsoft.com/office/drawing/2014/main" id="{F0E3A535-5CA2-A012-503D-99FC029F1FC4}"/>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226171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99D19-F004-DD73-5DB4-8F6454F99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5775E9D2-5BE4-4EC9-B3EE-ABEDFCB94A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E57F3FC5-8DDA-3190-874A-D477A19F88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F612B-2DF9-8560-3AFD-7261B6B2AA60}"/>
              </a:ext>
            </a:extLst>
          </p:cNvPr>
          <p:cNvSpPr>
            <a:spLocks noGrp="1"/>
          </p:cNvSpPr>
          <p:nvPr>
            <p:ph type="dt" sz="half" idx="10"/>
          </p:nvPr>
        </p:nvSpPr>
        <p:spPr/>
        <p:txBody>
          <a:bodyPr/>
          <a:lstStyle/>
          <a:p>
            <a:fld id="{17B67C40-D887-419C-BF74-30657AE68D78}" type="datetime1">
              <a:rPr lang="en-US" smtClean="0"/>
              <a:t>3/30/25</a:t>
            </a:fld>
            <a:endParaRPr lang="en-US" dirty="0"/>
          </a:p>
        </p:txBody>
      </p:sp>
      <p:sp>
        <p:nvSpPr>
          <p:cNvPr id="6" name="Footer Placeholder 5">
            <a:extLst>
              <a:ext uri="{FF2B5EF4-FFF2-40B4-BE49-F238E27FC236}">
                <a16:creationId xmlns:a16="http://schemas.microsoft.com/office/drawing/2014/main" id="{59AC4653-2C52-754E-F3D0-E78967B29ECA}"/>
              </a:ext>
            </a:extLst>
          </p:cNvPr>
          <p:cNvSpPr>
            <a:spLocks noGrp="1"/>
          </p:cNvSpPr>
          <p:nvPr>
            <p:ph type="ftr" sz="quarter" idx="11"/>
          </p:nvPr>
        </p:nvSpPr>
        <p:spPr/>
        <p:txBody>
          <a:bodyPr/>
          <a:lstStyle/>
          <a:p>
            <a:r>
              <a:rPr lang="en-GB"/>
              <a:t>Frankfurt University of Applied Sciences 2023/24</a:t>
            </a:r>
            <a:endParaRPr lang="en-US"/>
          </a:p>
        </p:txBody>
      </p:sp>
      <p:sp>
        <p:nvSpPr>
          <p:cNvPr id="7" name="Slide Number Placeholder 6">
            <a:extLst>
              <a:ext uri="{FF2B5EF4-FFF2-40B4-BE49-F238E27FC236}">
                <a16:creationId xmlns:a16="http://schemas.microsoft.com/office/drawing/2014/main" id="{1C547A1F-6B8C-1D75-5EB4-0930B6E23D5E}"/>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1925796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C5DEC-4891-3D7D-E718-ABB90DD09D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27EAB83B-5749-03A2-BD36-F66974D04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9E9B5DD2-8D22-679A-8630-7F0F88172F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5B5287-91EE-7B04-74DE-85AEBF28813E}"/>
              </a:ext>
            </a:extLst>
          </p:cNvPr>
          <p:cNvSpPr>
            <a:spLocks noGrp="1"/>
          </p:cNvSpPr>
          <p:nvPr>
            <p:ph type="dt" sz="half" idx="10"/>
          </p:nvPr>
        </p:nvSpPr>
        <p:spPr/>
        <p:txBody>
          <a:bodyPr/>
          <a:lstStyle/>
          <a:p>
            <a:fld id="{F07DC399-5085-4C53-864E-53AF786663A6}" type="datetime1">
              <a:rPr lang="en-US" smtClean="0"/>
              <a:t>3/30/25</a:t>
            </a:fld>
            <a:endParaRPr lang="en-US" dirty="0"/>
          </a:p>
        </p:txBody>
      </p:sp>
      <p:sp>
        <p:nvSpPr>
          <p:cNvPr id="6" name="Footer Placeholder 5">
            <a:extLst>
              <a:ext uri="{FF2B5EF4-FFF2-40B4-BE49-F238E27FC236}">
                <a16:creationId xmlns:a16="http://schemas.microsoft.com/office/drawing/2014/main" id="{C2C8CF72-7C26-38EC-672D-E2DA672AC129}"/>
              </a:ext>
            </a:extLst>
          </p:cNvPr>
          <p:cNvSpPr>
            <a:spLocks noGrp="1"/>
          </p:cNvSpPr>
          <p:nvPr>
            <p:ph type="ftr" sz="quarter" idx="11"/>
          </p:nvPr>
        </p:nvSpPr>
        <p:spPr/>
        <p:txBody>
          <a:bodyPr/>
          <a:lstStyle/>
          <a:p>
            <a:r>
              <a:rPr lang="en-GB"/>
              <a:t>Frankfurt University of Applied Sciences 2023/24</a:t>
            </a:r>
            <a:endParaRPr lang="en-US"/>
          </a:p>
        </p:txBody>
      </p:sp>
      <p:sp>
        <p:nvSpPr>
          <p:cNvPr id="7" name="Slide Number Placeholder 6">
            <a:extLst>
              <a:ext uri="{FF2B5EF4-FFF2-40B4-BE49-F238E27FC236}">
                <a16:creationId xmlns:a16="http://schemas.microsoft.com/office/drawing/2014/main" id="{C9F9E843-980A-E5D0-AFC6-00392647DAA5}"/>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749064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C5882-0520-C8B5-DF12-4330D0D603DE}"/>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63A99B78-267F-7EAF-0141-3553F33883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7BCAE255-5D36-40FD-760C-D56C983ECBC9}"/>
              </a:ext>
            </a:extLst>
          </p:cNvPr>
          <p:cNvSpPr>
            <a:spLocks noGrp="1"/>
          </p:cNvSpPr>
          <p:nvPr>
            <p:ph type="dt" sz="half" idx="10"/>
          </p:nvPr>
        </p:nvSpPr>
        <p:spPr/>
        <p:txBody>
          <a:bodyPr/>
          <a:lstStyle/>
          <a:p>
            <a:fld id="{34DAC050-3FD3-435C-A76E-04B57AA0571A}" type="datetime1">
              <a:rPr lang="en-US" smtClean="0"/>
              <a:t>3/30/25</a:t>
            </a:fld>
            <a:endParaRPr lang="en-US" dirty="0"/>
          </a:p>
        </p:txBody>
      </p:sp>
      <p:sp>
        <p:nvSpPr>
          <p:cNvPr id="5" name="Footer Placeholder 4">
            <a:extLst>
              <a:ext uri="{FF2B5EF4-FFF2-40B4-BE49-F238E27FC236}">
                <a16:creationId xmlns:a16="http://schemas.microsoft.com/office/drawing/2014/main" id="{A8B27A22-C121-3948-2640-565E19183107}"/>
              </a:ext>
            </a:extLst>
          </p:cNvPr>
          <p:cNvSpPr>
            <a:spLocks noGrp="1"/>
          </p:cNvSpPr>
          <p:nvPr>
            <p:ph type="ftr" sz="quarter" idx="11"/>
          </p:nvPr>
        </p:nvSpPr>
        <p:spPr/>
        <p:txBody>
          <a:bodyPr/>
          <a:lstStyle/>
          <a:p>
            <a:r>
              <a:rPr lang="en-GB"/>
              <a:t>Frankfurt University of Applied Sciences 2023/24</a:t>
            </a:r>
            <a:endParaRPr lang="en-US" dirty="0"/>
          </a:p>
        </p:txBody>
      </p:sp>
      <p:sp>
        <p:nvSpPr>
          <p:cNvPr id="6" name="Slide Number Placeholder 5">
            <a:extLst>
              <a:ext uri="{FF2B5EF4-FFF2-40B4-BE49-F238E27FC236}">
                <a16:creationId xmlns:a16="http://schemas.microsoft.com/office/drawing/2014/main" id="{454CB716-228B-E923-3381-8D0B9E1C82E1}"/>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2115835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941BB1-03F7-D7ED-233D-7A690840B6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3B9A500C-B7B3-6CFB-F6DE-24799D1E6B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A9599123-4F0B-FC7E-6587-1303800E5139}"/>
              </a:ext>
            </a:extLst>
          </p:cNvPr>
          <p:cNvSpPr>
            <a:spLocks noGrp="1"/>
          </p:cNvSpPr>
          <p:nvPr>
            <p:ph type="dt" sz="half" idx="10"/>
          </p:nvPr>
        </p:nvSpPr>
        <p:spPr/>
        <p:txBody>
          <a:bodyPr/>
          <a:lstStyle/>
          <a:p>
            <a:fld id="{A4B74034-D052-47F7-B82B-8FE5E38143D8}" type="datetime1">
              <a:rPr lang="en-US" smtClean="0"/>
              <a:t>3/30/25</a:t>
            </a:fld>
            <a:endParaRPr lang="en-US"/>
          </a:p>
        </p:txBody>
      </p:sp>
      <p:sp>
        <p:nvSpPr>
          <p:cNvPr id="5" name="Footer Placeholder 4">
            <a:extLst>
              <a:ext uri="{FF2B5EF4-FFF2-40B4-BE49-F238E27FC236}">
                <a16:creationId xmlns:a16="http://schemas.microsoft.com/office/drawing/2014/main" id="{3F0EE864-F045-25D7-307D-9970E0910033}"/>
              </a:ext>
            </a:extLst>
          </p:cNvPr>
          <p:cNvSpPr>
            <a:spLocks noGrp="1"/>
          </p:cNvSpPr>
          <p:nvPr>
            <p:ph type="ftr" sz="quarter" idx="11"/>
          </p:nvPr>
        </p:nvSpPr>
        <p:spPr/>
        <p:txBody>
          <a:bodyPr/>
          <a:lstStyle/>
          <a:p>
            <a:r>
              <a:rPr lang="en-GB"/>
              <a:t>Frankfurt University of Applied Sciences 2023/24</a:t>
            </a:r>
            <a:endParaRPr lang="en-US"/>
          </a:p>
        </p:txBody>
      </p:sp>
      <p:sp>
        <p:nvSpPr>
          <p:cNvPr id="6" name="Slide Number Placeholder 5">
            <a:extLst>
              <a:ext uri="{FF2B5EF4-FFF2-40B4-BE49-F238E27FC236}">
                <a16:creationId xmlns:a16="http://schemas.microsoft.com/office/drawing/2014/main" id="{55EE33D9-DACE-4F76-7CB3-46721806266D}"/>
              </a:ext>
            </a:extLst>
          </p:cNvPr>
          <p:cNvSpPr>
            <a:spLocks noGrp="1"/>
          </p:cNvSpPr>
          <p:nvPr>
            <p:ph type="sldNum" sz="quarter" idx="12"/>
          </p:nvPr>
        </p:nvSpPr>
        <p:spPr/>
        <p:txBody>
          <a:bodyPr/>
          <a:lstStyle/>
          <a:p>
            <a:fld id="{49ABCAEC-7D34-E549-A96E-FCEDAADBE4B0}" type="slidenum">
              <a:rPr lang="en-US" smtClean="0"/>
              <a:t>‹#›</a:t>
            </a:fld>
            <a:endParaRPr lang="en-US"/>
          </a:p>
        </p:txBody>
      </p:sp>
    </p:spTree>
    <p:extLst>
      <p:ext uri="{BB962C8B-B14F-4D97-AF65-F5344CB8AC3E}">
        <p14:creationId xmlns:p14="http://schemas.microsoft.com/office/powerpoint/2010/main" val="736714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6D2263-7775-0815-EC3F-26F541CE2E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E7747967-87B4-EB5F-B58C-995F4A5E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584C192C-1808-EE3F-F1C9-58770653A2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C3E194-E3B4-4030-879B-05C9910A0D64}" type="datetime1">
              <a:rPr lang="en-US" smtClean="0"/>
              <a:t>3/30/25</a:t>
            </a:fld>
            <a:endParaRPr lang="en-US" dirty="0"/>
          </a:p>
        </p:txBody>
      </p:sp>
      <p:sp>
        <p:nvSpPr>
          <p:cNvPr id="5" name="Footer Placeholder 4">
            <a:extLst>
              <a:ext uri="{FF2B5EF4-FFF2-40B4-BE49-F238E27FC236}">
                <a16:creationId xmlns:a16="http://schemas.microsoft.com/office/drawing/2014/main" id="{5E86AC13-6BA5-4D74-790A-B9FDA80DCA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Frankfurt University of Applied Sciences 2023/24</a:t>
            </a:r>
            <a:endParaRPr lang="en-US" dirty="0"/>
          </a:p>
        </p:txBody>
      </p:sp>
      <p:sp>
        <p:nvSpPr>
          <p:cNvPr id="6" name="Slide Number Placeholder 5">
            <a:extLst>
              <a:ext uri="{FF2B5EF4-FFF2-40B4-BE49-F238E27FC236}">
                <a16:creationId xmlns:a16="http://schemas.microsoft.com/office/drawing/2014/main" id="{E3C322AF-DB5B-E510-284A-528F08CB47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729849080"/>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C95FB10D-503A-02E2-7813-FD8560EBAF68}"/>
              </a:ext>
            </a:extLst>
          </p:cNvPr>
          <p:cNvSpPr>
            <a:spLocks noGrp="1"/>
          </p:cNvSpPr>
          <p:nvPr>
            <p:ph type="ctrTitle"/>
          </p:nvPr>
        </p:nvSpPr>
        <p:spPr>
          <a:xfrm>
            <a:off x="645064" y="525982"/>
            <a:ext cx="4282983" cy="1200361"/>
          </a:xfrm>
        </p:spPr>
        <p:txBody>
          <a:bodyPr vert="horz" lIns="91440" tIns="45720" rIns="91440" bIns="45720" rtlCol="0" anchor="b">
            <a:normAutofit/>
          </a:bodyPr>
          <a:lstStyle/>
          <a:p>
            <a:pPr algn="l"/>
            <a:r>
              <a:rPr lang="en-GB" sz="2500" kern="1200" noProof="0">
                <a:solidFill>
                  <a:schemeClr val="tx1"/>
                </a:solidFill>
                <a:latin typeface="+mj-lt"/>
                <a:ea typeface="+mj-ea"/>
                <a:cs typeface="+mj-cs"/>
              </a:rPr>
              <a:t>Machine Learning</a:t>
            </a:r>
            <a:endParaRPr lang="en-GB" sz="2500" kern="1200" noProof="0" dirty="0">
              <a:solidFill>
                <a:schemeClr val="tx1"/>
              </a:solidFill>
              <a:latin typeface="+mj-lt"/>
              <a:ea typeface="+mj-ea"/>
              <a:cs typeface="+mj-cs"/>
            </a:endParaRPr>
          </a:p>
        </p:txBody>
      </p:sp>
      <p:sp>
        <p:nvSpPr>
          <p:cNvPr id="27" name="Rectangle 2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Subtitle 2">
            <a:extLst>
              <a:ext uri="{FF2B5EF4-FFF2-40B4-BE49-F238E27FC236}">
                <a16:creationId xmlns:a16="http://schemas.microsoft.com/office/drawing/2014/main" id="{6597247D-1D40-3287-CF28-A9D589890013}"/>
              </a:ext>
            </a:extLst>
          </p:cNvPr>
          <p:cNvSpPr>
            <a:spLocks noGrp="1"/>
          </p:cNvSpPr>
          <p:nvPr>
            <p:ph type="subTitle" idx="1"/>
          </p:nvPr>
        </p:nvSpPr>
        <p:spPr>
          <a:xfrm>
            <a:off x="645066" y="2031101"/>
            <a:ext cx="4282984" cy="3511943"/>
          </a:xfrm>
        </p:spPr>
        <p:txBody>
          <a:bodyPr vert="horz" lIns="91440" tIns="45720" rIns="91440" bIns="45720" rtlCol="0" anchor="ctr">
            <a:normAutofit/>
          </a:bodyPr>
          <a:lstStyle/>
          <a:p>
            <a:pPr algn="l"/>
            <a:r>
              <a:rPr lang="en-GB" sz="1800" b="1" noProof="0" dirty="0"/>
              <a:t>Course:  Machine Learning</a:t>
            </a:r>
          </a:p>
          <a:p>
            <a:pPr algn="l"/>
            <a:r>
              <a:rPr lang="en-GB" sz="1800" b="1" noProof="0" dirty="0"/>
              <a:t>Supervisor: Andreas Pech</a:t>
            </a:r>
          </a:p>
          <a:p>
            <a:pPr algn="l"/>
            <a:r>
              <a:rPr lang="en-GB" sz="1800" b="1" u="sng" noProof="0" dirty="0"/>
              <a:t>Presented by:</a:t>
            </a:r>
          </a:p>
          <a:p>
            <a:pPr algn="l"/>
            <a:r>
              <a:rPr lang="en-GB" sz="1800" b="1" noProof="0" dirty="0"/>
              <a:t>Tanvir Ahmed </a:t>
            </a:r>
          </a:p>
          <a:p>
            <a:pPr algn="l"/>
            <a:r>
              <a:rPr lang="en-GB" sz="1800" b="1" noProof="0" dirty="0"/>
              <a:t>Matriculation No. # 1386435</a:t>
            </a:r>
          </a:p>
          <a:p>
            <a:pPr algn="l"/>
            <a:r>
              <a:rPr lang="en-GB" sz="1800" b="1" noProof="0" dirty="0"/>
              <a:t>A S M Saiem </a:t>
            </a:r>
            <a:r>
              <a:rPr lang="en-GB" sz="1800" b="1" noProof="0" dirty="0" err="1"/>
              <a:t>Solimullah</a:t>
            </a:r>
            <a:endParaRPr lang="en-GB" sz="1800" b="1" noProof="0" dirty="0"/>
          </a:p>
          <a:p>
            <a:pPr algn="l"/>
            <a:r>
              <a:rPr lang="en-GB" sz="1800" b="1" noProof="0" dirty="0"/>
              <a:t>Matriculation No. # 1427938</a:t>
            </a:r>
          </a:p>
        </p:txBody>
      </p:sp>
      <p:sp>
        <p:nvSpPr>
          <p:cNvPr id="29" name="Rectangle 2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Rectangle 3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Rectangle 3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6" name="Grafik 4" descr="A logo for a university&#10;&#10;AI-generated content may be incorrect.">
            <a:extLst>
              <a:ext uri="{FF2B5EF4-FFF2-40B4-BE49-F238E27FC236}">
                <a16:creationId xmlns:a16="http://schemas.microsoft.com/office/drawing/2014/main" id="{D0E175D2-6E28-7203-A204-53BF0B830E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987738" y="1863350"/>
            <a:ext cx="5628018" cy="2898430"/>
          </a:xfrm>
          <a:prstGeom prst="rect">
            <a:avLst/>
          </a:prstGeom>
          <a:noFill/>
        </p:spPr>
      </p:pic>
      <p:sp>
        <p:nvSpPr>
          <p:cNvPr id="7" name="Footer Placeholder 6">
            <a:extLst>
              <a:ext uri="{FF2B5EF4-FFF2-40B4-BE49-F238E27FC236}">
                <a16:creationId xmlns:a16="http://schemas.microsoft.com/office/drawing/2014/main" id="{1BA47E50-74C6-E04E-4DE8-292CA99D0565}"/>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a:spcAft>
                <a:spcPts val="600"/>
              </a:spcAft>
            </a:pPr>
            <a:r>
              <a:rPr lang="en-GB" kern="1200" noProof="0" dirty="0">
                <a:solidFill>
                  <a:schemeClr val="tx1">
                    <a:tint val="75000"/>
                  </a:schemeClr>
                </a:solidFill>
                <a:latin typeface="+mn-lt"/>
                <a:ea typeface="+mn-ea"/>
                <a:cs typeface="+mn-cs"/>
              </a:rPr>
              <a:t>Frankfurt University of Applied Sciences 2024/25</a:t>
            </a:r>
          </a:p>
        </p:txBody>
      </p:sp>
    </p:spTree>
    <p:extLst>
      <p:ext uri="{BB962C8B-B14F-4D97-AF65-F5344CB8AC3E}">
        <p14:creationId xmlns:p14="http://schemas.microsoft.com/office/powerpoint/2010/main" val="1480149009"/>
      </p:ext>
    </p:extLst>
  </p:cSld>
  <p:clrMapOvr>
    <a:masterClrMapping/>
  </p:clrMapOvr>
  <mc:AlternateContent xmlns:mc="http://schemas.openxmlformats.org/markup-compatibility/2006" xmlns:p14="http://schemas.microsoft.com/office/powerpoint/2010/main">
    <mc:Choice Requires="p14">
      <p:transition spd="slow" p14:dur="2000" advTm="20342"/>
    </mc:Choice>
    <mc:Fallback xmlns="">
      <p:transition spd="slow" advTm="2034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2859A0F1-5DAE-6B9F-6E07-C54BA219B02C}"/>
              </a:ext>
            </a:extLst>
          </p:cNvPr>
          <p:cNvSpPr>
            <a:spLocks noGrp="1"/>
          </p:cNvSpPr>
          <p:nvPr>
            <p:ph type="title"/>
          </p:nvPr>
        </p:nvSpPr>
        <p:spPr>
          <a:xfrm>
            <a:off x="808638" y="386930"/>
            <a:ext cx="9236700" cy="1188950"/>
          </a:xfrm>
        </p:spPr>
        <p:txBody>
          <a:bodyPr anchor="b">
            <a:normAutofit/>
          </a:bodyPr>
          <a:lstStyle/>
          <a:p>
            <a:r>
              <a:rPr lang="en-GB" sz="5400" noProof="0" dirty="0">
                <a:latin typeface="Times New Roman" panose="02020603050405020304" pitchFamily="18" charset="0"/>
                <a:cs typeface="Times New Roman" panose="02020603050405020304" pitchFamily="18" charset="0"/>
              </a:rPr>
              <a:t>  </a:t>
            </a:r>
            <a:r>
              <a:rPr lang="en-GB" sz="3600" noProof="0" dirty="0">
                <a:latin typeface="Times New Roman" panose="02020603050405020304" pitchFamily="18" charset="0"/>
                <a:cs typeface="Times New Roman" panose="02020603050405020304" pitchFamily="18" charset="0"/>
              </a:rPr>
              <a:t>OBJECTIVE</a:t>
            </a:r>
          </a:p>
        </p:txBody>
      </p:sp>
      <p:grpSp>
        <p:nvGrpSpPr>
          <p:cNvPr id="34" name="Group 3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5" name="Rectangle 3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6" name="Rectangle 3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38" name="Rectangle 3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Content Placeholder 2">
            <a:extLst>
              <a:ext uri="{FF2B5EF4-FFF2-40B4-BE49-F238E27FC236}">
                <a16:creationId xmlns:a16="http://schemas.microsoft.com/office/drawing/2014/main" id="{6170489E-00F5-1F55-7A98-16BA617A4D1B}"/>
              </a:ext>
            </a:extLst>
          </p:cNvPr>
          <p:cNvSpPr>
            <a:spLocks noGrp="1"/>
          </p:cNvSpPr>
          <p:nvPr>
            <p:ph idx="1"/>
          </p:nvPr>
        </p:nvSpPr>
        <p:spPr>
          <a:xfrm>
            <a:off x="793660" y="2599509"/>
            <a:ext cx="10143668" cy="3435531"/>
          </a:xfrm>
        </p:spPr>
        <p:txBody>
          <a:bodyPr anchor="ctr">
            <a:normAutofit/>
          </a:bodyPr>
          <a:lstStyle/>
          <a:p>
            <a:pPr marL="0" indent="0">
              <a:buNone/>
            </a:pPr>
            <a:r>
              <a:rPr lang="en-GB" sz="1800" noProof="0" dirty="0">
                <a:latin typeface="Times New Roman" panose="02020603050405020304" pitchFamily="18" charset="0"/>
                <a:cs typeface="Times New Roman" panose="02020603050405020304" pitchFamily="18" charset="0"/>
              </a:rPr>
              <a:t>The primary goal is to Test and the improvement of the FIUS sensor’s person and object detection in Horizontal Perpendicular setup. </a:t>
            </a:r>
          </a:p>
        </p:txBody>
      </p:sp>
      <p:sp>
        <p:nvSpPr>
          <p:cNvPr id="4" name="Footer Placeholder 3">
            <a:extLst>
              <a:ext uri="{FF2B5EF4-FFF2-40B4-BE49-F238E27FC236}">
                <a16:creationId xmlns:a16="http://schemas.microsoft.com/office/drawing/2014/main" id="{1B3C9F9B-DC7F-6EAB-DF89-8E8E7AF28510}"/>
              </a:ext>
            </a:extLst>
          </p:cNvPr>
          <p:cNvSpPr>
            <a:spLocks noGrp="1"/>
          </p:cNvSpPr>
          <p:nvPr>
            <p:ph type="ftr" sz="quarter" idx="11"/>
          </p:nvPr>
        </p:nvSpPr>
        <p:spPr>
          <a:xfrm>
            <a:off x="4038600" y="6492240"/>
            <a:ext cx="4114800" cy="365125"/>
          </a:xfrm>
        </p:spPr>
        <p:txBody>
          <a:bodyPr>
            <a:normAutofit/>
          </a:bodyPr>
          <a:lstStyle/>
          <a:p>
            <a:pPr>
              <a:spcAft>
                <a:spcPts val="600"/>
              </a:spcAft>
            </a:pPr>
            <a:r>
              <a:rPr lang="en-GB" noProof="0" dirty="0"/>
              <a:t>Frankfurt University of Applied Sciences 2024/25</a:t>
            </a:r>
          </a:p>
        </p:txBody>
      </p:sp>
    </p:spTree>
    <p:extLst>
      <p:ext uri="{BB962C8B-B14F-4D97-AF65-F5344CB8AC3E}">
        <p14:creationId xmlns:p14="http://schemas.microsoft.com/office/powerpoint/2010/main" val="609845213"/>
      </p:ext>
    </p:extLst>
  </p:cSld>
  <p:clrMapOvr>
    <a:masterClrMapping/>
  </p:clrMapOvr>
  <mc:AlternateContent xmlns:mc="http://schemas.openxmlformats.org/markup-compatibility/2006" xmlns:p14="http://schemas.microsoft.com/office/powerpoint/2010/main">
    <mc:Choice Requires="p14">
      <p:transition spd="slow" p14:dur="2000" advTm="47416"/>
    </mc:Choice>
    <mc:Fallback xmlns="">
      <p:transition spd="slow" advTm="4741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54D10E33-ED93-F5F0-58B7-457E848D0CD0}"/>
              </a:ext>
            </a:extLst>
          </p:cNvPr>
          <p:cNvSpPr>
            <a:spLocks noGrp="1"/>
          </p:cNvSpPr>
          <p:nvPr>
            <p:ph type="title"/>
          </p:nvPr>
        </p:nvSpPr>
        <p:spPr>
          <a:xfrm>
            <a:off x="808638" y="386930"/>
            <a:ext cx="9236700" cy="1188950"/>
          </a:xfrm>
        </p:spPr>
        <p:txBody>
          <a:bodyPr anchor="b">
            <a:normAutofit/>
          </a:bodyPr>
          <a:lstStyle/>
          <a:p>
            <a:r>
              <a:rPr lang="en-GB" sz="3600" noProof="0" dirty="0">
                <a:latin typeface="Times New Roman" panose="02020603050405020304" pitchFamily="18" charset="0"/>
                <a:cs typeface="Times New Roman" panose="02020603050405020304" pitchFamily="18" charset="0"/>
              </a:rPr>
              <a:t>TABLE OF CONTENT</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Content Placeholder 2">
            <a:extLst>
              <a:ext uri="{FF2B5EF4-FFF2-40B4-BE49-F238E27FC236}">
                <a16:creationId xmlns:a16="http://schemas.microsoft.com/office/drawing/2014/main" id="{A419C38F-446F-8573-4AB3-187D4695BFA5}"/>
              </a:ext>
            </a:extLst>
          </p:cNvPr>
          <p:cNvSpPr>
            <a:spLocks noGrp="1"/>
          </p:cNvSpPr>
          <p:nvPr>
            <p:ph idx="1"/>
          </p:nvPr>
        </p:nvSpPr>
        <p:spPr>
          <a:xfrm>
            <a:off x="793660" y="2599509"/>
            <a:ext cx="10143668" cy="3435531"/>
          </a:xfrm>
        </p:spPr>
        <p:txBody>
          <a:bodyPr anchor="ctr">
            <a:normAutofit/>
          </a:bodyPr>
          <a:lstStyle/>
          <a:p>
            <a:r>
              <a:rPr lang="en-GB" sz="2400" noProof="0" dirty="0">
                <a:latin typeface="Times New Roman" panose="02020603050405020304" pitchFamily="18" charset="0"/>
                <a:cs typeface="Times New Roman" panose="02020603050405020304" pitchFamily="18" charset="0"/>
              </a:rPr>
              <a:t>INTRODUCTION </a:t>
            </a:r>
          </a:p>
          <a:p>
            <a:r>
              <a:rPr lang="en-GB" sz="2400" noProof="0" dirty="0">
                <a:latin typeface="Times New Roman" panose="02020603050405020304" pitchFamily="18" charset="0"/>
                <a:cs typeface="Times New Roman" panose="02020603050405020304" pitchFamily="18" charset="0"/>
              </a:rPr>
              <a:t>BACKGROUND</a:t>
            </a:r>
          </a:p>
          <a:p>
            <a:r>
              <a:rPr lang="en-GB" sz="2400" noProof="0" dirty="0">
                <a:latin typeface="Times New Roman" panose="02020603050405020304" pitchFamily="18" charset="0"/>
                <a:cs typeface="Times New Roman" panose="02020603050405020304" pitchFamily="18" charset="0"/>
              </a:rPr>
              <a:t>METHODOLOGY</a:t>
            </a:r>
          </a:p>
          <a:p>
            <a:r>
              <a:rPr lang="en-GB" sz="2400" noProof="0" dirty="0">
                <a:latin typeface="Times New Roman" panose="02020603050405020304" pitchFamily="18" charset="0"/>
                <a:cs typeface="Times New Roman" panose="02020603050405020304" pitchFamily="18" charset="0"/>
              </a:rPr>
              <a:t>RESULTS</a:t>
            </a:r>
          </a:p>
          <a:p>
            <a:r>
              <a:rPr lang="en-GB" sz="2400" noProof="0" dirty="0">
                <a:latin typeface="Times New Roman" panose="02020603050405020304" pitchFamily="18" charset="0"/>
                <a:cs typeface="Times New Roman" panose="02020603050405020304" pitchFamily="18" charset="0"/>
              </a:rPr>
              <a:t>CONCLUSION</a:t>
            </a:r>
          </a:p>
          <a:p>
            <a:r>
              <a:rPr lang="en-GB" sz="2400" noProof="0" dirty="0">
                <a:latin typeface="Times New Roman" panose="02020603050405020304" pitchFamily="18" charset="0"/>
                <a:cs typeface="Times New Roman" panose="02020603050405020304" pitchFamily="18" charset="0"/>
              </a:rPr>
              <a:t>REFERENCE</a:t>
            </a:r>
          </a:p>
        </p:txBody>
      </p:sp>
      <p:sp>
        <p:nvSpPr>
          <p:cNvPr id="4" name="Footer Placeholder 3">
            <a:extLst>
              <a:ext uri="{FF2B5EF4-FFF2-40B4-BE49-F238E27FC236}">
                <a16:creationId xmlns:a16="http://schemas.microsoft.com/office/drawing/2014/main" id="{447A52EF-703B-C1A8-B1D0-F28E33EDDED7}"/>
              </a:ext>
            </a:extLst>
          </p:cNvPr>
          <p:cNvSpPr>
            <a:spLocks noGrp="1"/>
          </p:cNvSpPr>
          <p:nvPr>
            <p:ph type="ftr" sz="quarter" idx="11"/>
          </p:nvPr>
        </p:nvSpPr>
        <p:spPr>
          <a:xfrm>
            <a:off x="4038600" y="6492240"/>
            <a:ext cx="4114800" cy="365125"/>
          </a:xfrm>
        </p:spPr>
        <p:txBody>
          <a:bodyPr>
            <a:normAutofit/>
          </a:bodyPr>
          <a:lstStyle/>
          <a:p>
            <a:pPr>
              <a:spcAft>
                <a:spcPts val="600"/>
              </a:spcAft>
            </a:pPr>
            <a:r>
              <a:rPr lang="en-GB" noProof="0" dirty="0"/>
              <a:t>Frankfurt University of Applied Sciences 2024/25</a:t>
            </a:r>
          </a:p>
        </p:txBody>
      </p:sp>
    </p:spTree>
    <p:extLst>
      <p:ext uri="{BB962C8B-B14F-4D97-AF65-F5344CB8AC3E}">
        <p14:creationId xmlns:p14="http://schemas.microsoft.com/office/powerpoint/2010/main" val="491359581"/>
      </p:ext>
    </p:extLst>
  </p:cSld>
  <p:clrMapOvr>
    <a:masterClrMapping/>
  </p:clrMapOvr>
  <mc:AlternateContent xmlns:mc="http://schemas.openxmlformats.org/markup-compatibility/2006" xmlns:p14="http://schemas.microsoft.com/office/powerpoint/2010/main">
    <mc:Choice Requires="p14">
      <p:transition spd="slow" p14:dur="2000" advTm="8700"/>
    </mc:Choice>
    <mc:Fallback xmlns="">
      <p:transition spd="slow" advTm="87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C63BA8A3-E276-7B9E-00D4-C4FAFA0E62E2}"/>
              </a:ext>
            </a:extLst>
          </p:cNvPr>
          <p:cNvSpPr>
            <a:spLocks noGrp="1"/>
          </p:cNvSpPr>
          <p:nvPr>
            <p:ph type="title"/>
          </p:nvPr>
        </p:nvSpPr>
        <p:spPr>
          <a:xfrm>
            <a:off x="808638" y="386930"/>
            <a:ext cx="9236700" cy="1188950"/>
          </a:xfrm>
        </p:spPr>
        <p:txBody>
          <a:bodyPr anchor="b">
            <a:normAutofit/>
          </a:bodyPr>
          <a:lstStyle/>
          <a:p>
            <a:r>
              <a:rPr lang="en-GB" sz="3600" noProof="0" dirty="0">
                <a:latin typeface="Times New Roman" panose="02020603050405020304" pitchFamily="18" charset="0"/>
                <a:cs typeface="Times New Roman" panose="02020603050405020304" pitchFamily="18" charset="0"/>
              </a:rPr>
              <a:t>INTRODUCTION</a:t>
            </a:r>
          </a:p>
        </p:txBody>
      </p:sp>
      <p:grpSp>
        <p:nvGrpSpPr>
          <p:cNvPr id="21" name="Group 2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2" name="Rectangle 2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Rectangle 2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Content Placeholder 2">
            <a:extLst>
              <a:ext uri="{FF2B5EF4-FFF2-40B4-BE49-F238E27FC236}">
                <a16:creationId xmlns:a16="http://schemas.microsoft.com/office/drawing/2014/main" id="{C5619006-6A4A-D4E6-5F88-B48E1FBF7A39}"/>
              </a:ext>
            </a:extLst>
          </p:cNvPr>
          <p:cNvSpPr>
            <a:spLocks noGrp="1"/>
          </p:cNvSpPr>
          <p:nvPr>
            <p:ph idx="1"/>
          </p:nvPr>
        </p:nvSpPr>
        <p:spPr>
          <a:xfrm>
            <a:off x="793660" y="2599509"/>
            <a:ext cx="10143668" cy="3435531"/>
          </a:xfrm>
        </p:spPr>
        <p:txBody>
          <a:bodyPr anchor="ctr">
            <a:normAutofit/>
          </a:bodyPr>
          <a:lstStyle/>
          <a:p>
            <a:r>
              <a:rPr lang="en-GB" sz="1800" noProof="0" dirty="0">
                <a:latin typeface="Times New Roman" panose="02020603050405020304" pitchFamily="18" charset="0"/>
                <a:cs typeface="Times New Roman" panose="02020603050405020304" pitchFamily="18" charset="0"/>
              </a:rPr>
              <a:t>For safety, automation and assistive tech, detecting human presence is critical.</a:t>
            </a:r>
          </a:p>
          <a:p>
            <a:r>
              <a:rPr lang="en-GB" sz="1800" noProof="0" dirty="0">
                <a:latin typeface="Times New Roman" panose="02020603050405020304" pitchFamily="18" charset="0"/>
                <a:cs typeface="Times New Roman" panose="02020603050405020304" pitchFamily="18" charset="0"/>
              </a:rPr>
              <a:t>Ultrasonic sensors are cheap, non-intrusive in nature and reliable.</a:t>
            </a:r>
          </a:p>
          <a:p>
            <a:r>
              <a:rPr lang="en-GB" sz="1800" noProof="0" dirty="0">
                <a:latin typeface="Times New Roman" panose="02020603050405020304" pitchFamily="18" charset="0"/>
                <a:cs typeface="Times New Roman" panose="02020603050405020304" pitchFamily="18" charset="0"/>
              </a:rPr>
              <a:t>This project aims to enhance human and object detection using ultrasonic echoes and machine learning.</a:t>
            </a:r>
          </a:p>
        </p:txBody>
      </p:sp>
      <p:sp>
        <p:nvSpPr>
          <p:cNvPr id="4" name="Footer Placeholder 3">
            <a:extLst>
              <a:ext uri="{FF2B5EF4-FFF2-40B4-BE49-F238E27FC236}">
                <a16:creationId xmlns:a16="http://schemas.microsoft.com/office/drawing/2014/main" id="{D823973C-3724-2302-EED4-C1D3B6AD01B1}"/>
              </a:ext>
            </a:extLst>
          </p:cNvPr>
          <p:cNvSpPr>
            <a:spLocks noGrp="1"/>
          </p:cNvSpPr>
          <p:nvPr>
            <p:ph type="ftr" sz="quarter" idx="11"/>
          </p:nvPr>
        </p:nvSpPr>
        <p:spPr>
          <a:xfrm>
            <a:off x="4038600" y="6492240"/>
            <a:ext cx="4114800" cy="365125"/>
          </a:xfrm>
        </p:spPr>
        <p:txBody>
          <a:bodyPr>
            <a:normAutofit/>
          </a:bodyPr>
          <a:lstStyle/>
          <a:p>
            <a:pPr>
              <a:spcAft>
                <a:spcPts val="600"/>
              </a:spcAft>
            </a:pPr>
            <a:r>
              <a:rPr lang="en-GB" noProof="0" dirty="0"/>
              <a:t>Frankfurt University of Applied Sciences 2024/25</a:t>
            </a:r>
          </a:p>
        </p:txBody>
      </p:sp>
    </p:spTree>
    <p:extLst>
      <p:ext uri="{BB962C8B-B14F-4D97-AF65-F5344CB8AC3E}">
        <p14:creationId xmlns:p14="http://schemas.microsoft.com/office/powerpoint/2010/main" val="1957633403"/>
      </p:ext>
    </p:extLst>
  </p:cSld>
  <p:clrMapOvr>
    <a:masterClrMapping/>
  </p:clrMapOvr>
  <mc:AlternateContent xmlns:mc="http://schemas.openxmlformats.org/markup-compatibility/2006" xmlns:p14="http://schemas.microsoft.com/office/powerpoint/2010/main">
    <mc:Choice Requires="p14">
      <p:transition spd="slow" p14:dur="2000" advTm="57301"/>
    </mc:Choice>
    <mc:Fallback xmlns="">
      <p:transition spd="slow" advTm="5730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4F619F30-BC53-AC7E-6E70-5969483D4236}"/>
              </a:ext>
            </a:extLst>
          </p:cNvPr>
          <p:cNvSpPr>
            <a:spLocks noGrp="1"/>
          </p:cNvSpPr>
          <p:nvPr>
            <p:ph type="title"/>
          </p:nvPr>
        </p:nvSpPr>
        <p:spPr>
          <a:xfrm>
            <a:off x="808637" y="386930"/>
            <a:ext cx="9879027" cy="1188950"/>
          </a:xfrm>
        </p:spPr>
        <p:txBody>
          <a:bodyPr anchor="b">
            <a:noAutofit/>
          </a:bodyPr>
          <a:lstStyle/>
          <a:p>
            <a:r>
              <a:rPr lang="en-GB" sz="3600" noProof="0" dirty="0">
                <a:latin typeface="Times New Roman" panose="02020603050405020304" pitchFamily="18" charset="0"/>
                <a:cs typeface="Times New Roman" panose="02020603050405020304" pitchFamily="18" charset="0"/>
              </a:rPr>
              <a:t>BACKGROUND</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Content Placeholder 2">
            <a:extLst>
              <a:ext uri="{FF2B5EF4-FFF2-40B4-BE49-F238E27FC236}">
                <a16:creationId xmlns:a16="http://schemas.microsoft.com/office/drawing/2014/main" id="{3FF3B039-81AC-4E57-B93A-32BCC07E1F51}"/>
              </a:ext>
            </a:extLst>
          </p:cNvPr>
          <p:cNvSpPr>
            <a:spLocks noGrp="1"/>
          </p:cNvSpPr>
          <p:nvPr>
            <p:ph idx="1"/>
          </p:nvPr>
        </p:nvSpPr>
        <p:spPr>
          <a:xfrm>
            <a:off x="793660" y="2599509"/>
            <a:ext cx="10143668" cy="3435531"/>
          </a:xfrm>
        </p:spPr>
        <p:txBody>
          <a:bodyPr anchor="ctr">
            <a:normAutofit/>
          </a:bodyPr>
          <a:lstStyle/>
          <a:p>
            <a:r>
              <a:rPr lang="en-GB" sz="1800" b="1" noProof="0" dirty="0"/>
              <a:t>Red Pitaya Based FIUS sonar sensor</a:t>
            </a:r>
          </a:p>
          <a:p>
            <a:r>
              <a:rPr lang="en-GB" sz="1800" b="1" noProof="0" dirty="0">
                <a:latin typeface="Times New Roman" panose="02020603050405020304" pitchFamily="18" charset="0"/>
                <a:cs typeface="Times New Roman" panose="02020603050405020304" pitchFamily="18" charset="0"/>
              </a:rPr>
              <a:t>Eco Detection</a:t>
            </a:r>
          </a:p>
          <a:p>
            <a:r>
              <a:rPr lang="en-GB" sz="1800" b="1" noProof="0" dirty="0">
                <a:latin typeface="Times New Roman" panose="02020603050405020304" pitchFamily="18" charset="0"/>
                <a:cs typeface="Times New Roman" panose="02020603050405020304" pitchFamily="18" charset="0"/>
              </a:rPr>
              <a:t>Fast Fourier Transform</a:t>
            </a:r>
          </a:p>
          <a:p>
            <a:r>
              <a:rPr lang="en-GB" sz="1800" b="1" noProof="0" dirty="0">
                <a:latin typeface="Times New Roman" panose="02020603050405020304" pitchFamily="18" charset="0"/>
                <a:cs typeface="Times New Roman" panose="02020603050405020304" pitchFamily="18" charset="0"/>
              </a:rPr>
              <a:t>ADC Data</a:t>
            </a:r>
          </a:p>
          <a:p>
            <a:r>
              <a:rPr lang="en-GB" sz="1800" b="1" noProof="0" dirty="0">
                <a:latin typeface="Times New Roman" panose="02020603050405020304" pitchFamily="18" charset="0"/>
                <a:cs typeface="Times New Roman" panose="02020603050405020304" pitchFamily="18" charset="0"/>
              </a:rPr>
              <a:t>Savitzky-Golay filter</a:t>
            </a:r>
          </a:p>
          <a:p>
            <a:r>
              <a:rPr lang="en-GB" sz="1800" b="1" noProof="0" dirty="0">
                <a:latin typeface="Times New Roman" panose="02020603050405020304" pitchFamily="18" charset="0"/>
                <a:cs typeface="Times New Roman" panose="02020603050405020304" pitchFamily="18" charset="0"/>
              </a:rPr>
              <a:t>Multilayer Perceptron (MLP) Classifier</a:t>
            </a:r>
          </a:p>
          <a:p>
            <a:r>
              <a:rPr lang="en-GB" sz="1800" b="1" noProof="0" dirty="0">
                <a:latin typeface="Times New Roman" panose="02020603050405020304" pitchFamily="18" charset="0"/>
                <a:cs typeface="Times New Roman" panose="02020603050405020304" pitchFamily="18" charset="0"/>
              </a:rPr>
              <a:t>Confusion Matrix</a:t>
            </a:r>
          </a:p>
          <a:p>
            <a:endParaRPr lang="en-GB" sz="1800" b="1" noProof="0" dirty="0">
              <a:latin typeface="Times New Roman" panose="02020603050405020304" pitchFamily="18" charset="0"/>
              <a:cs typeface="Times New Roman" panose="02020603050405020304" pitchFamily="18" charset="0"/>
            </a:endParaRPr>
          </a:p>
          <a:p>
            <a:endParaRPr lang="en-GB" sz="1800" noProof="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10EF617-5901-56AD-73CE-A106EA3F1CCF}"/>
              </a:ext>
            </a:extLst>
          </p:cNvPr>
          <p:cNvSpPr>
            <a:spLocks noGrp="1"/>
          </p:cNvSpPr>
          <p:nvPr>
            <p:ph type="ftr" sz="quarter" idx="11"/>
          </p:nvPr>
        </p:nvSpPr>
        <p:spPr>
          <a:xfrm>
            <a:off x="4038600" y="6492240"/>
            <a:ext cx="4114800" cy="365125"/>
          </a:xfrm>
        </p:spPr>
        <p:txBody>
          <a:bodyPr>
            <a:normAutofit/>
          </a:bodyPr>
          <a:lstStyle/>
          <a:p>
            <a:pPr>
              <a:spcAft>
                <a:spcPts val="600"/>
              </a:spcAft>
            </a:pPr>
            <a:r>
              <a:rPr lang="en-GB" noProof="0" dirty="0"/>
              <a:t>Frankfurt University of Applied Sciences 2024/25</a:t>
            </a:r>
          </a:p>
        </p:txBody>
      </p:sp>
    </p:spTree>
    <p:extLst>
      <p:ext uri="{BB962C8B-B14F-4D97-AF65-F5344CB8AC3E}">
        <p14:creationId xmlns:p14="http://schemas.microsoft.com/office/powerpoint/2010/main" val="1994486729"/>
      </p:ext>
    </p:extLst>
  </p:cSld>
  <p:clrMapOvr>
    <a:masterClrMapping/>
  </p:clrMapOvr>
  <mc:AlternateContent xmlns:mc="http://schemas.openxmlformats.org/markup-compatibility/2006" xmlns:p14="http://schemas.microsoft.com/office/powerpoint/2010/main">
    <mc:Choice Requires="p14">
      <p:transition spd="slow" p14:dur="2000" advTm="64337"/>
    </mc:Choice>
    <mc:Fallback xmlns="">
      <p:transition spd="slow" advTm="6433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30FA3A-8B93-C1AD-E620-1A04315DC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7998E-09D8-192E-6D98-BDEABFB73E46}"/>
              </a:ext>
            </a:extLst>
          </p:cNvPr>
          <p:cNvSpPr>
            <a:spLocks noGrp="1"/>
          </p:cNvSpPr>
          <p:nvPr>
            <p:ph type="title"/>
          </p:nvPr>
        </p:nvSpPr>
        <p:spPr>
          <a:xfrm>
            <a:off x="876693" y="741391"/>
            <a:ext cx="3331525" cy="1616203"/>
          </a:xfrm>
        </p:spPr>
        <p:txBody>
          <a:bodyPr anchor="b">
            <a:normAutofit/>
          </a:bodyPr>
          <a:lstStyle/>
          <a:p>
            <a:r>
              <a:rPr lang="en-GB" sz="3000" noProof="0" dirty="0">
                <a:latin typeface="Times New Roman" panose="02020603050405020304" pitchFamily="18" charset="0"/>
                <a:cs typeface="Times New Roman" panose="02020603050405020304" pitchFamily="18" charset="0"/>
              </a:rPr>
              <a:t>METHODOLOGY</a:t>
            </a:r>
            <a:br>
              <a:rPr lang="en-GB" sz="3000" noProof="0" dirty="0">
                <a:latin typeface="Times New Roman" panose="02020603050405020304" pitchFamily="18" charset="0"/>
                <a:cs typeface="Times New Roman" panose="02020603050405020304" pitchFamily="18" charset="0"/>
              </a:rPr>
            </a:br>
            <a:endParaRPr lang="en-GB" sz="3000" noProof="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F17B97-1E41-3011-A0CA-9AEA819344C9}"/>
              </a:ext>
            </a:extLst>
          </p:cNvPr>
          <p:cNvSpPr>
            <a:spLocks noGrp="1"/>
          </p:cNvSpPr>
          <p:nvPr>
            <p:ph idx="1"/>
          </p:nvPr>
        </p:nvSpPr>
        <p:spPr>
          <a:xfrm>
            <a:off x="876694" y="2533476"/>
            <a:ext cx="3331526" cy="3447832"/>
          </a:xfrm>
        </p:spPr>
        <p:txBody>
          <a:bodyPr anchor="t">
            <a:normAutofit/>
          </a:bodyPr>
          <a:lstStyle/>
          <a:p>
            <a:r>
              <a:rPr lang="en-GB" sz="2000" b="1" noProof="0" dirty="0"/>
              <a:t>Data Acquisition</a:t>
            </a:r>
          </a:p>
          <a:p>
            <a:endParaRPr lang="en-GB" sz="2000" b="1" noProof="0" dirty="0">
              <a:latin typeface="Times New Roman" panose="02020603050405020304" pitchFamily="18" charset="0"/>
              <a:cs typeface="Times New Roman" panose="02020603050405020304" pitchFamily="18" charset="0"/>
            </a:endParaRPr>
          </a:p>
          <a:p>
            <a:endParaRPr lang="en-GB" sz="2000" noProof="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207B616-9AD9-1D98-64A8-5236F831EA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43761" y="1658269"/>
            <a:ext cx="2766550" cy="1646098"/>
          </a:xfrm>
          <a:prstGeom prst="rect">
            <a:avLst/>
          </a:prstGeom>
        </p:spPr>
      </p:pic>
      <p:pic>
        <p:nvPicPr>
          <p:cNvPr id="6" name="Picture 5">
            <a:extLst>
              <a:ext uri="{FF2B5EF4-FFF2-40B4-BE49-F238E27FC236}">
                <a16:creationId xmlns:a16="http://schemas.microsoft.com/office/drawing/2014/main" id="{2F63F323-B9CC-0AD5-EBFD-9DB7F2B477E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9397" b="9397"/>
          <a:stretch/>
        </p:blipFill>
        <p:spPr bwMode="auto">
          <a:xfrm>
            <a:off x="5043761" y="3482025"/>
            <a:ext cx="2766550" cy="1684952"/>
          </a:xfrm>
          <a:prstGeom prst="rect">
            <a:avLst/>
          </a:prstGeom>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B645E5AD-3291-F44A-D6E7-D2EB702A10CD}"/>
              </a:ext>
            </a:extLst>
          </p:cNvPr>
          <p:cNvPicPr>
            <a:picLocks noChangeAspect="1"/>
          </p:cNvPicPr>
          <p:nvPr/>
        </p:nvPicPr>
        <p:blipFill>
          <a:blip r:embed="rId5"/>
          <a:srcRect l="8483" r="5121" b="2"/>
          <a:stretch/>
        </p:blipFill>
        <p:spPr>
          <a:xfrm>
            <a:off x="7983780" y="1366909"/>
            <a:ext cx="3331526" cy="4079402"/>
          </a:xfrm>
          <a:prstGeom prst="rect">
            <a:avLst/>
          </a:prstGeom>
        </p:spPr>
      </p:pic>
      <p:sp>
        <p:nvSpPr>
          <p:cNvPr id="4" name="Footer Placeholder 3">
            <a:extLst>
              <a:ext uri="{FF2B5EF4-FFF2-40B4-BE49-F238E27FC236}">
                <a16:creationId xmlns:a16="http://schemas.microsoft.com/office/drawing/2014/main" id="{2016E114-7346-3735-6626-AB8CEB5413D0}"/>
              </a:ext>
            </a:extLst>
          </p:cNvPr>
          <p:cNvSpPr>
            <a:spLocks noGrp="1"/>
          </p:cNvSpPr>
          <p:nvPr>
            <p:ph type="ftr" sz="quarter" idx="11"/>
          </p:nvPr>
        </p:nvSpPr>
        <p:spPr>
          <a:xfrm>
            <a:off x="4038600" y="6356350"/>
            <a:ext cx="4114800" cy="365125"/>
          </a:xfrm>
        </p:spPr>
        <p:txBody>
          <a:bodyPr>
            <a:normAutofit/>
          </a:bodyPr>
          <a:lstStyle/>
          <a:p>
            <a:pPr>
              <a:spcAft>
                <a:spcPts val="600"/>
              </a:spcAft>
            </a:pPr>
            <a:r>
              <a:rPr lang="en-GB" noProof="0" dirty="0"/>
              <a:t>Frankfurt University of Applied Sciences 2024/25</a:t>
            </a:r>
          </a:p>
        </p:txBody>
      </p:sp>
      <p:grpSp>
        <p:nvGrpSpPr>
          <p:cNvPr id="73" name="Group 72">
            <a:extLst>
              <a:ext uri="{FF2B5EF4-FFF2-40B4-BE49-F238E27FC236}">
                <a16:creationId xmlns:a16="http://schemas.microsoft.com/office/drawing/2014/main" id="{50A0A18D-98B4-40E5-4078-A318C95547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6737460"/>
            <a:ext cx="12192000" cy="123364"/>
            <a:chOff x="1" y="6737460"/>
            <a:chExt cx="12192000" cy="123364"/>
          </a:xfrm>
        </p:grpSpPr>
        <p:sp>
          <p:nvSpPr>
            <p:cNvPr id="63" name="Rectangle 62">
              <a:extLst>
                <a:ext uri="{FF2B5EF4-FFF2-40B4-BE49-F238E27FC236}">
                  <a16:creationId xmlns:a16="http://schemas.microsoft.com/office/drawing/2014/main" id="{B102A9A7-35A0-25BE-8907-0AB62C454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4" name="Rectangle 73">
              <a:extLst>
                <a:ext uri="{FF2B5EF4-FFF2-40B4-BE49-F238E27FC236}">
                  <a16:creationId xmlns:a16="http://schemas.microsoft.com/office/drawing/2014/main" id="{728BDF14-9776-769C-B15E-E2D6BA4DC8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Tree>
    <p:extLst>
      <p:ext uri="{BB962C8B-B14F-4D97-AF65-F5344CB8AC3E}">
        <p14:creationId xmlns:p14="http://schemas.microsoft.com/office/powerpoint/2010/main" val="2101595497"/>
      </p:ext>
    </p:extLst>
  </p:cSld>
  <p:clrMapOvr>
    <a:masterClrMapping/>
  </p:clrMapOvr>
  <mc:AlternateContent xmlns:mc="http://schemas.openxmlformats.org/markup-compatibility/2006" xmlns:p14="http://schemas.microsoft.com/office/powerpoint/2010/main">
    <mc:Choice Requires="p14">
      <p:transition spd="slow" p14:dur="2000" advTm="64337"/>
    </mc:Choice>
    <mc:Fallback xmlns="">
      <p:transition spd="slow" advTm="6433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21B1D9-52AB-60A7-C479-ABCED103DD1C}"/>
            </a:ext>
          </a:extLst>
        </p:cNvPr>
        <p:cNvGrpSpPr/>
        <p:nvPr/>
      </p:nvGrpSpPr>
      <p:grpSpPr>
        <a:xfrm>
          <a:off x="0" y="0"/>
          <a:ext cx="0" cy="0"/>
          <a:chOff x="0" y="0"/>
          <a:chExt cx="0" cy="0"/>
        </a:xfrm>
      </p:grpSpPr>
      <p:sp useBgFill="1">
        <p:nvSpPr>
          <p:cNvPr id="97" name="Rectangle 96">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CB7A75-708C-BD35-FE10-76E415931593}"/>
              </a:ext>
            </a:extLst>
          </p:cNvPr>
          <p:cNvSpPr>
            <a:spLocks noGrp="1"/>
          </p:cNvSpPr>
          <p:nvPr>
            <p:ph type="title"/>
          </p:nvPr>
        </p:nvSpPr>
        <p:spPr>
          <a:xfrm>
            <a:off x="612648" y="1078992"/>
            <a:ext cx="6268770" cy="1536192"/>
          </a:xfrm>
        </p:spPr>
        <p:txBody>
          <a:bodyPr anchor="b">
            <a:normAutofit/>
          </a:bodyPr>
          <a:lstStyle/>
          <a:p>
            <a:r>
              <a:rPr lang="en-GB" sz="5200" noProof="0">
                <a:latin typeface="Times New Roman" panose="02020603050405020304" pitchFamily="18" charset="0"/>
                <a:cs typeface="Times New Roman" panose="02020603050405020304" pitchFamily="18" charset="0"/>
              </a:rPr>
              <a:t>METHODOLOGY</a:t>
            </a:r>
            <a:br>
              <a:rPr lang="en-GB" sz="5200" noProof="0">
                <a:latin typeface="Times New Roman" panose="02020603050405020304" pitchFamily="18" charset="0"/>
                <a:cs typeface="Times New Roman" panose="02020603050405020304" pitchFamily="18" charset="0"/>
              </a:rPr>
            </a:br>
            <a:endParaRPr lang="en-GB" sz="5200" noProof="0">
              <a:latin typeface="Times New Roman" panose="02020603050405020304" pitchFamily="18" charset="0"/>
              <a:cs typeface="Times New Roman" panose="02020603050405020304" pitchFamily="18" charset="0"/>
            </a:endParaRPr>
          </a:p>
        </p:txBody>
      </p:sp>
      <p:sp>
        <p:nvSpPr>
          <p:cNvPr id="98" name="Rectangle 97">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6" name="Rectangle 95">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2A9BF96-2349-6CA0-9204-984DECEFCD9F}"/>
              </a:ext>
            </a:extLst>
          </p:cNvPr>
          <p:cNvSpPr>
            <a:spLocks noGrp="1"/>
          </p:cNvSpPr>
          <p:nvPr>
            <p:ph idx="1"/>
          </p:nvPr>
        </p:nvSpPr>
        <p:spPr>
          <a:xfrm>
            <a:off x="612648" y="3355848"/>
            <a:ext cx="6268770" cy="2825496"/>
          </a:xfrm>
        </p:spPr>
        <p:txBody>
          <a:bodyPr>
            <a:normAutofit/>
          </a:bodyPr>
          <a:lstStyle/>
          <a:p>
            <a:r>
              <a:rPr lang="en-GB" sz="2200" b="1" noProof="0" dirty="0"/>
              <a:t>Data Preprocessing </a:t>
            </a:r>
          </a:p>
          <a:p>
            <a:pPr>
              <a:buFont typeface="Wingdings" panose="05000000000000000000" pitchFamily="2" charset="2"/>
              <a:buChar char="ü"/>
            </a:pPr>
            <a:r>
              <a:rPr lang="en-US" sz="1800" dirty="0">
                <a:effectLst/>
                <a:latin typeface="Times New Roman" panose="02020603050405020304" pitchFamily="18" charset="0"/>
                <a:ea typeface="SimSun" panose="02010600030101010101" pitchFamily="2" charset="-122"/>
              </a:rPr>
              <a:t>Data Labelling</a:t>
            </a:r>
          </a:p>
          <a:p>
            <a:pPr>
              <a:buFont typeface="Wingdings" panose="05000000000000000000" pitchFamily="2" charset="2"/>
              <a:buChar char="ü"/>
            </a:pPr>
            <a:r>
              <a:rPr lang="en-US" sz="1800" dirty="0">
                <a:effectLst/>
                <a:latin typeface="Times New Roman" panose="02020603050405020304" pitchFamily="18" charset="0"/>
                <a:ea typeface="SimSun" panose="02010600030101010101" pitchFamily="2" charset="-122"/>
              </a:rPr>
              <a:t>Removing Header</a:t>
            </a:r>
          </a:p>
          <a:p>
            <a:pPr>
              <a:buFont typeface="Wingdings" panose="05000000000000000000" pitchFamily="2" charset="2"/>
              <a:buChar char="ü"/>
            </a:pPr>
            <a:r>
              <a:rPr lang="en-US" sz="1800" dirty="0">
                <a:effectLst/>
                <a:latin typeface="Times New Roman" panose="02020603050405020304" pitchFamily="18" charset="0"/>
                <a:ea typeface="SimSun" panose="02010600030101010101" pitchFamily="2" charset="-122"/>
              </a:rPr>
              <a:t>Remove Noisy Signal</a:t>
            </a:r>
            <a:endParaRPr lang="en-US" sz="1800" dirty="0">
              <a:latin typeface="Times New Roman" panose="02020603050405020304" pitchFamily="18" charset="0"/>
              <a:ea typeface="SimSun" panose="02010600030101010101" pitchFamily="2" charset="-122"/>
            </a:endParaRPr>
          </a:p>
          <a:p>
            <a:pPr>
              <a:buFont typeface="Wingdings" panose="05000000000000000000" pitchFamily="2" charset="2"/>
              <a:buChar char="ü"/>
            </a:pPr>
            <a:r>
              <a:rPr lang="en-US" sz="1800" dirty="0">
                <a:effectLst/>
                <a:latin typeface="Times New Roman" panose="02020603050405020304" pitchFamily="18" charset="0"/>
                <a:ea typeface="SimSun" panose="02010600030101010101" pitchFamily="2" charset="-122"/>
              </a:rPr>
              <a:t>First Eco Detection</a:t>
            </a:r>
          </a:p>
          <a:p>
            <a:pPr>
              <a:buFont typeface="Wingdings" panose="05000000000000000000" pitchFamily="2" charset="2"/>
              <a:buChar char="ü"/>
            </a:pPr>
            <a:r>
              <a:rPr lang="en-US" sz="1800" dirty="0">
                <a:effectLst/>
                <a:latin typeface="Times New Roman" panose="02020603050405020304" pitchFamily="18" charset="0"/>
                <a:ea typeface="SimSun" panose="02010600030101010101" pitchFamily="2" charset="-122"/>
              </a:rPr>
              <a:t>One hat encoding of object type</a:t>
            </a:r>
            <a:endParaRPr lang="en-US" sz="1800" dirty="0">
              <a:latin typeface="Times New Roman" panose="02020603050405020304" pitchFamily="18" charset="0"/>
              <a:ea typeface="SimSun" panose="02010600030101010101" pitchFamily="2" charset="-122"/>
            </a:endParaRPr>
          </a:p>
          <a:p>
            <a:pPr>
              <a:buFont typeface="Wingdings" panose="05000000000000000000" pitchFamily="2" charset="2"/>
              <a:buChar char="ü"/>
            </a:pPr>
            <a:r>
              <a:rPr lang="en-US" sz="1800" dirty="0">
                <a:effectLst/>
                <a:latin typeface="Times New Roman" panose="02020603050405020304" pitchFamily="18" charset="0"/>
                <a:ea typeface="SimSun" panose="02010600030101010101" pitchFamily="2" charset="-122"/>
              </a:rPr>
              <a:t>ACF and Windowed Signal</a:t>
            </a:r>
            <a:endParaRPr lang="en-GB" sz="2200" b="1" noProof="0" dirty="0"/>
          </a:p>
          <a:p>
            <a:endParaRPr lang="en-GB" sz="2200" b="1" noProof="0" dirty="0">
              <a:latin typeface="Times New Roman" panose="02020603050405020304" pitchFamily="18" charset="0"/>
              <a:cs typeface="Times New Roman" panose="02020603050405020304" pitchFamily="18" charset="0"/>
            </a:endParaRPr>
          </a:p>
          <a:p>
            <a:endParaRPr lang="en-GB" sz="2200" noProof="0" dirty="0">
              <a:latin typeface="Times New Roman" panose="02020603050405020304" pitchFamily="18" charset="0"/>
              <a:cs typeface="Times New Roman" panose="02020603050405020304" pitchFamily="18" charset="0"/>
            </a:endParaRPr>
          </a:p>
        </p:txBody>
      </p:sp>
      <p:pic>
        <p:nvPicPr>
          <p:cNvPr id="82" name="Graphic 81" descr="Database">
            <a:extLst>
              <a:ext uri="{FF2B5EF4-FFF2-40B4-BE49-F238E27FC236}">
                <a16:creationId xmlns:a16="http://schemas.microsoft.com/office/drawing/2014/main" id="{4B92A9A9-65EA-44DE-9A74-D1888C3AEF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94066" y="1272395"/>
            <a:ext cx="4237686" cy="4237686"/>
          </a:xfrm>
          <a:prstGeom prst="rect">
            <a:avLst/>
          </a:prstGeom>
        </p:spPr>
      </p:pic>
      <p:sp>
        <p:nvSpPr>
          <p:cNvPr id="4" name="Footer Placeholder 3">
            <a:extLst>
              <a:ext uri="{FF2B5EF4-FFF2-40B4-BE49-F238E27FC236}">
                <a16:creationId xmlns:a16="http://schemas.microsoft.com/office/drawing/2014/main" id="{541DAA69-1B17-9260-97CE-C94E57E7FC3E}"/>
              </a:ext>
            </a:extLst>
          </p:cNvPr>
          <p:cNvSpPr>
            <a:spLocks noGrp="1"/>
          </p:cNvSpPr>
          <p:nvPr>
            <p:ph type="ftr" sz="quarter" idx="11"/>
          </p:nvPr>
        </p:nvSpPr>
        <p:spPr>
          <a:xfrm>
            <a:off x="2766618" y="6356350"/>
            <a:ext cx="4114800" cy="365125"/>
          </a:xfrm>
        </p:spPr>
        <p:txBody>
          <a:bodyPr>
            <a:normAutofit/>
          </a:bodyPr>
          <a:lstStyle/>
          <a:p>
            <a:pPr algn="r">
              <a:spcAft>
                <a:spcPts val="600"/>
              </a:spcAft>
            </a:pPr>
            <a:r>
              <a:rPr lang="en-GB" noProof="0">
                <a:solidFill>
                  <a:schemeClr val="tx1">
                    <a:lumMod val="50000"/>
                    <a:lumOff val="50000"/>
                  </a:schemeClr>
                </a:solidFill>
              </a:rPr>
              <a:t>Frankfurt University of Applied Sciences 2024/25</a:t>
            </a:r>
          </a:p>
        </p:txBody>
      </p:sp>
    </p:spTree>
    <p:extLst>
      <p:ext uri="{BB962C8B-B14F-4D97-AF65-F5344CB8AC3E}">
        <p14:creationId xmlns:p14="http://schemas.microsoft.com/office/powerpoint/2010/main" val="1351688965"/>
      </p:ext>
    </p:extLst>
  </p:cSld>
  <p:clrMapOvr>
    <a:masterClrMapping/>
  </p:clrMapOvr>
  <mc:AlternateContent xmlns:mc="http://schemas.openxmlformats.org/markup-compatibility/2006" xmlns:p14="http://schemas.microsoft.com/office/powerpoint/2010/main">
    <mc:Choice Requires="p14">
      <p:transition spd="slow" p14:dur="2000" advTm="64337"/>
    </mc:Choice>
    <mc:Fallback xmlns="">
      <p:transition spd="slow" advTm="6433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9A7C81-429A-6218-FC6C-AD5B5583B67C}"/>
            </a:ext>
          </a:extLst>
        </p:cNvPr>
        <p:cNvGrpSpPr/>
        <p:nvPr/>
      </p:nvGrpSpPr>
      <p:grpSpPr>
        <a:xfrm>
          <a:off x="0" y="0"/>
          <a:ext cx="0" cy="0"/>
          <a:chOff x="0" y="0"/>
          <a:chExt cx="0" cy="0"/>
        </a:xfrm>
      </p:grpSpPr>
      <p:sp useBgFill="1">
        <p:nvSpPr>
          <p:cNvPr id="103" name="Rectangle 102">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5" name="Freeform: Shape 104">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7" name="Freeform: Shape 106">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59AA05-98DF-6D4E-ABE1-EA84A95DA765}"/>
              </a:ext>
            </a:extLst>
          </p:cNvPr>
          <p:cNvSpPr>
            <a:spLocks noGrp="1"/>
          </p:cNvSpPr>
          <p:nvPr>
            <p:ph type="title"/>
          </p:nvPr>
        </p:nvSpPr>
        <p:spPr>
          <a:xfrm>
            <a:off x="621792" y="1161288"/>
            <a:ext cx="3602736" cy="4526280"/>
          </a:xfrm>
        </p:spPr>
        <p:txBody>
          <a:bodyPr>
            <a:normAutofit/>
          </a:bodyPr>
          <a:lstStyle/>
          <a:p>
            <a:r>
              <a:rPr lang="en-GB" sz="3400" noProof="0">
                <a:latin typeface="Times New Roman" panose="02020603050405020304" pitchFamily="18" charset="0"/>
                <a:cs typeface="Times New Roman" panose="02020603050405020304" pitchFamily="18" charset="0"/>
              </a:rPr>
              <a:t>METHODOLOGY</a:t>
            </a:r>
            <a:br>
              <a:rPr lang="en-GB" sz="3400" noProof="0">
                <a:latin typeface="Times New Roman" panose="02020603050405020304" pitchFamily="18" charset="0"/>
                <a:cs typeface="Times New Roman" panose="02020603050405020304" pitchFamily="18" charset="0"/>
              </a:rPr>
            </a:br>
            <a:endParaRPr lang="en-GB" sz="3400" noProof="0">
              <a:latin typeface="Times New Roman" panose="02020603050405020304" pitchFamily="18" charset="0"/>
              <a:cs typeface="Times New Roman" panose="02020603050405020304" pitchFamily="18" charset="0"/>
            </a:endParaRPr>
          </a:p>
        </p:txBody>
      </p:sp>
      <p:sp>
        <p:nvSpPr>
          <p:cNvPr id="109" name="Rectangle 108">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86CE6F1-C2F6-0C47-6D27-8620F8243647}"/>
              </a:ext>
            </a:extLst>
          </p:cNvPr>
          <p:cNvSpPr>
            <a:spLocks noGrp="1"/>
          </p:cNvSpPr>
          <p:nvPr>
            <p:ph idx="1"/>
          </p:nvPr>
        </p:nvSpPr>
        <p:spPr>
          <a:xfrm>
            <a:off x="5434149" y="932688"/>
            <a:ext cx="5916603" cy="4992624"/>
          </a:xfrm>
        </p:spPr>
        <p:txBody>
          <a:bodyPr anchor="ctr">
            <a:normAutofit/>
          </a:bodyPr>
          <a:lstStyle/>
          <a:p>
            <a:r>
              <a:rPr lang="en-GB" sz="2000" b="1" noProof="0"/>
              <a:t>MLP Classifier &amp; SVM</a:t>
            </a:r>
          </a:p>
          <a:p>
            <a:pPr>
              <a:buFont typeface="Wingdings" panose="05000000000000000000" pitchFamily="2" charset="2"/>
              <a:buChar char="ü"/>
            </a:pPr>
            <a:r>
              <a:rPr lang="en-US" sz="2000">
                <a:latin typeface="Times New Roman" panose="02020603050405020304" pitchFamily="18" charset="0"/>
                <a:ea typeface="SimSun" panose="02010600030101010101" pitchFamily="2" charset="-122"/>
              </a:rPr>
              <a:t>Feature Extraction</a:t>
            </a:r>
          </a:p>
          <a:p>
            <a:pPr>
              <a:buFont typeface="Wingdings" panose="05000000000000000000" pitchFamily="2" charset="2"/>
              <a:buChar char="ü"/>
            </a:pPr>
            <a:r>
              <a:rPr lang="en-US" sz="2000">
                <a:latin typeface="Times New Roman" panose="02020603050405020304" pitchFamily="18" charset="0"/>
                <a:ea typeface="SimSun" panose="02010600030101010101" pitchFamily="2" charset="-122"/>
              </a:rPr>
              <a:t>Combine eco index and PSD</a:t>
            </a:r>
          </a:p>
          <a:p>
            <a:pPr>
              <a:buFont typeface="Wingdings" panose="05000000000000000000" pitchFamily="2" charset="2"/>
              <a:buChar char="ü"/>
            </a:pPr>
            <a:r>
              <a:rPr lang="en-US" sz="2000">
                <a:effectLst/>
                <a:latin typeface="Times New Roman" panose="02020603050405020304" pitchFamily="18" charset="0"/>
                <a:ea typeface="SimSun" panose="02010600030101010101" pitchFamily="2" charset="-122"/>
              </a:rPr>
              <a:t>First Eco Detection</a:t>
            </a:r>
          </a:p>
          <a:p>
            <a:pPr>
              <a:buFont typeface="Wingdings" panose="05000000000000000000" pitchFamily="2" charset="2"/>
              <a:buChar char="ü"/>
            </a:pPr>
            <a:r>
              <a:rPr lang="en-US" sz="2000">
                <a:latin typeface="Times New Roman" panose="02020603050405020304" pitchFamily="18" charset="0"/>
                <a:ea typeface="SimSun" panose="02010600030101010101" pitchFamily="2" charset="-122"/>
              </a:rPr>
              <a:t>Target Variable</a:t>
            </a:r>
          </a:p>
          <a:p>
            <a:pPr>
              <a:buFont typeface="Wingdings" panose="05000000000000000000" pitchFamily="2" charset="2"/>
              <a:buChar char="ü"/>
            </a:pPr>
            <a:r>
              <a:rPr lang="en-US" sz="2000">
                <a:latin typeface="Times New Roman" panose="02020603050405020304" pitchFamily="18" charset="0"/>
                <a:ea typeface="SimSun" panose="02010600030101010101" pitchFamily="2" charset="-122"/>
              </a:rPr>
              <a:t>Train/Test Data</a:t>
            </a:r>
            <a:endParaRPr lang="en-GB" sz="2000">
              <a:latin typeface="Times New Roman" panose="02020603050405020304" pitchFamily="18" charset="0"/>
              <a:ea typeface="SimSun" panose="02010600030101010101" pitchFamily="2" charset="-122"/>
            </a:endParaRPr>
          </a:p>
          <a:p>
            <a:endParaRPr lang="en-GB" sz="2000" noProof="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C846883-C3CF-D0B3-44D1-504005B2ED08}"/>
              </a:ext>
            </a:extLst>
          </p:cNvPr>
          <p:cNvSpPr>
            <a:spLocks noGrp="1"/>
          </p:cNvSpPr>
          <p:nvPr>
            <p:ph type="ftr" sz="quarter" idx="11"/>
          </p:nvPr>
        </p:nvSpPr>
        <p:spPr>
          <a:xfrm>
            <a:off x="5434147" y="6356350"/>
            <a:ext cx="4572000" cy="365125"/>
          </a:xfrm>
        </p:spPr>
        <p:txBody>
          <a:bodyPr>
            <a:normAutofit/>
          </a:bodyPr>
          <a:lstStyle/>
          <a:p>
            <a:pPr algn="l">
              <a:spcAft>
                <a:spcPts val="600"/>
              </a:spcAft>
            </a:pPr>
            <a:r>
              <a:rPr lang="en-GB" noProof="0">
                <a:solidFill>
                  <a:schemeClr val="tx1">
                    <a:lumMod val="50000"/>
                    <a:lumOff val="50000"/>
                  </a:schemeClr>
                </a:solidFill>
              </a:rPr>
              <a:t>Frankfurt University of Applied Sciences 2024/25</a:t>
            </a:r>
          </a:p>
        </p:txBody>
      </p:sp>
    </p:spTree>
    <p:extLst>
      <p:ext uri="{BB962C8B-B14F-4D97-AF65-F5344CB8AC3E}">
        <p14:creationId xmlns:p14="http://schemas.microsoft.com/office/powerpoint/2010/main" val="1456986669"/>
      </p:ext>
    </p:extLst>
  </p:cSld>
  <p:clrMapOvr>
    <a:masterClrMapping/>
  </p:clrMapOvr>
  <mc:AlternateContent xmlns:mc="http://schemas.openxmlformats.org/markup-compatibility/2006" xmlns:p14="http://schemas.microsoft.com/office/powerpoint/2010/main">
    <mc:Choice Requires="p14">
      <p:transition spd="slow" p14:dur="2000" advTm="64337"/>
    </mc:Choice>
    <mc:Fallback xmlns="">
      <p:transition spd="slow" advTm="6433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D7D03296-BABA-47AD-A5D5-ED156727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6B3103-41D2-09F9-3157-4A179C59C189}"/>
              </a:ext>
            </a:extLst>
          </p:cNvPr>
          <p:cNvSpPr>
            <a:spLocks noGrp="1"/>
          </p:cNvSpPr>
          <p:nvPr>
            <p:ph type="title"/>
          </p:nvPr>
        </p:nvSpPr>
        <p:spPr>
          <a:xfrm>
            <a:off x="838200" y="226061"/>
            <a:ext cx="10515600" cy="1092050"/>
          </a:xfrm>
        </p:spPr>
        <p:txBody>
          <a:bodyPr vert="horz" lIns="91440" tIns="45720" rIns="91440" bIns="45720" rtlCol="0" anchor="b">
            <a:normAutofit/>
          </a:bodyPr>
          <a:lstStyle/>
          <a:p>
            <a:pPr algn="ctr"/>
            <a:r>
              <a:rPr lang="en-US" sz="5200" noProof="0"/>
              <a:t>RESULTS</a:t>
            </a:r>
          </a:p>
        </p:txBody>
      </p:sp>
      <p:sp useBgFill="1">
        <p:nvSpPr>
          <p:cNvPr id="56" name="Rectangle 55">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396083"/>
            <a:ext cx="10515599" cy="82296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468F8EDB-0664-5F5C-D063-0E24381EB5EC}"/>
              </a:ext>
            </a:extLst>
          </p:cNvPr>
          <p:cNvSpPr>
            <a:spLocks noGrp="1"/>
          </p:cNvSpPr>
          <p:nvPr>
            <p:ph idx="1"/>
          </p:nvPr>
        </p:nvSpPr>
        <p:spPr>
          <a:xfrm>
            <a:off x="1220089" y="1511968"/>
            <a:ext cx="9751823" cy="582612"/>
          </a:xfrm>
        </p:spPr>
        <p:txBody>
          <a:bodyPr vert="horz" lIns="91440" tIns="45720" rIns="91440" bIns="45720" rtlCol="0" anchor="ctr">
            <a:normAutofit/>
          </a:bodyPr>
          <a:lstStyle/>
          <a:p>
            <a:pPr marL="0" indent="0" algn="ctr">
              <a:buNone/>
            </a:pPr>
            <a:r>
              <a:rPr lang="en-US" sz="2400" noProof="0"/>
              <a:t>Data Pre-processing Output Analysis</a:t>
            </a:r>
          </a:p>
        </p:txBody>
      </p:sp>
      <p:sp>
        <p:nvSpPr>
          <p:cNvPr id="58" name="Rectangle 57">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41136" y="1859832"/>
            <a:ext cx="109728"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descr="A screen shot of a graph&#10;&#10;AI-generated content may be incorrect.">
            <a:extLst>
              <a:ext uri="{FF2B5EF4-FFF2-40B4-BE49-F238E27FC236}">
                <a16:creationId xmlns:a16="http://schemas.microsoft.com/office/drawing/2014/main" id="{1522678D-D709-0184-CA5B-D88018A365D5}"/>
              </a:ext>
            </a:extLst>
          </p:cNvPr>
          <p:cNvPicPr>
            <a:picLocks noChangeAspect="1"/>
          </p:cNvPicPr>
          <p:nvPr/>
        </p:nvPicPr>
        <p:blipFill>
          <a:blip r:embed="rId3"/>
          <a:stretch>
            <a:fillRect/>
          </a:stretch>
        </p:blipFill>
        <p:spPr>
          <a:xfrm>
            <a:off x="838199" y="3169933"/>
            <a:ext cx="5140661" cy="2338999"/>
          </a:xfrm>
          <a:prstGeom prst="rect">
            <a:avLst/>
          </a:prstGeom>
        </p:spPr>
      </p:pic>
      <p:pic>
        <p:nvPicPr>
          <p:cNvPr id="5" name="Picture 4" descr="A graph with red dots&#10;&#10;AI-generated content may be incorrect.">
            <a:extLst>
              <a:ext uri="{FF2B5EF4-FFF2-40B4-BE49-F238E27FC236}">
                <a16:creationId xmlns:a16="http://schemas.microsoft.com/office/drawing/2014/main" id="{4963B3F1-6720-5930-AE58-1A37D7770FE4}"/>
              </a:ext>
            </a:extLst>
          </p:cNvPr>
          <p:cNvPicPr>
            <a:picLocks noChangeAspect="1"/>
          </p:cNvPicPr>
          <p:nvPr/>
        </p:nvPicPr>
        <p:blipFill>
          <a:blip r:embed="rId4"/>
          <a:stretch>
            <a:fillRect/>
          </a:stretch>
        </p:blipFill>
        <p:spPr>
          <a:xfrm>
            <a:off x="6213142" y="3002863"/>
            <a:ext cx="5140656" cy="2673140"/>
          </a:xfrm>
          <a:prstGeom prst="rect">
            <a:avLst/>
          </a:prstGeom>
        </p:spPr>
      </p:pic>
      <p:sp>
        <p:nvSpPr>
          <p:cNvPr id="3" name="Footer Placeholder 2">
            <a:extLst>
              <a:ext uri="{FF2B5EF4-FFF2-40B4-BE49-F238E27FC236}">
                <a16:creationId xmlns:a16="http://schemas.microsoft.com/office/drawing/2014/main" id="{17F9F0DC-C247-368B-9748-27765CFEB36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noProof="0">
                <a:solidFill>
                  <a:schemeClr val="tx1">
                    <a:lumMod val="50000"/>
                    <a:lumOff val="50000"/>
                  </a:schemeClr>
                </a:solidFill>
                <a:latin typeface="+mn-lt"/>
                <a:ea typeface="+mn-ea"/>
                <a:cs typeface="+mn-cs"/>
              </a:rPr>
              <a:t>Frankfurt University of Applied Sciences 2024/25</a:t>
            </a:r>
          </a:p>
        </p:txBody>
      </p:sp>
    </p:spTree>
    <p:extLst>
      <p:ext uri="{BB962C8B-B14F-4D97-AF65-F5344CB8AC3E}">
        <p14:creationId xmlns:p14="http://schemas.microsoft.com/office/powerpoint/2010/main" val="490702600"/>
      </p:ext>
    </p:extLst>
  </p:cSld>
  <p:clrMapOvr>
    <a:masterClrMapping/>
  </p:clrMapOvr>
  <mc:AlternateContent xmlns:mc="http://schemas.openxmlformats.org/markup-compatibility/2006" xmlns:p14="http://schemas.microsoft.com/office/powerpoint/2010/main">
    <mc:Choice Requires="p14">
      <p:transition spd="slow" p14:dur="2000" advTm="550"/>
    </mc:Choice>
    <mc:Fallback xmlns="">
      <p:transition spd="slow" advTm="55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5B0D61-C54A-7576-091F-613E4605E3AE}"/>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D7D03296-BABA-47AD-A5D5-ED156727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9D2DF-1129-4D9C-551B-F137C20E0F8E}"/>
              </a:ext>
            </a:extLst>
          </p:cNvPr>
          <p:cNvSpPr>
            <a:spLocks noGrp="1"/>
          </p:cNvSpPr>
          <p:nvPr>
            <p:ph type="title"/>
          </p:nvPr>
        </p:nvSpPr>
        <p:spPr>
          <a:xfrm>
            <a:off x="838200" y="226061"/>
            <a:ext cx="10515600" cy="1092050"/>
          </a:xfrm>
        </p:spPr>
        <p:txBody>
          <a:bodyPr vert="horz" lIns="91440" tIns="45720" rIns="91440" bIns="45720" rtlCol="0" anchor="b">
            <a:normAutofit/>
          </a:bodyPr>
          <a:lstStyle/>
          <a:p>
            <a:pPr algn="ctr"/>
            <a:r>
              <a:rPr lang="en-US" sz="5200" noProof="0"/>
              <a:t>RESULTS</a:t>
            </a:r>
          </a:p>
        </p:txBody>
      </p:sp>
      <p:sp useBgFill="1">
        <p:nvSpPr>
          <p:cNvPr id="47" name="Rectangle 46">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396083"/>
            <a:ext cx="10515599" cy="82296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B9ABA9E4-DB81-5915-9F53-11D143FA2FFD}"/>
              </a:ext>
            </a:extLst>
          </p:cNvPr>
          <p:cNvSpPr>
            <a:spLocks noGrp="1"/>
          </p:cNvSpPr>
          <p:nvPr>
            <p:ph idx="1"/>
          </p:nvPr>
        </p:nvSpPr>
        <p:spPr>
          <a:xfrm>
            <a:off x="1220089" y="1511968"/>
            <a:ext cx="9751823" cy="582612"/>
          </a:xfrm>
        </p:spPr>
        <p:txBody>
          <a:bodyPr vert="horz" lIns="91440" tIns="45720" rIns="91440" bIns="45720" rtlCol="0" anchor="ctr">
            <a:normAutofit/>
          </a:bodyPr>
          <a:lstStyle/>
          <a:p>
            <a:pPr marL="0" indent="0" algn="ctr">
              <a:buNone/>
            </a:pPr>
            <a:r>
              <a:rPr lang="en-US" sz="2400" noProof="0"/>
              <a:t>Distance and Person detection Model Analysis</a:t>
            </a:r>
          </a:p>
        </p:txBody>
      </p:sp>
      <p:sp>
        <p:nvSpPr>
          <p:cNvPr id="49" name="Rectangle 48">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41136" y="1859832"/>
            <a:ext cx="109728"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descr="A screenshot of a computer&#10;&#10;AI-generated content may be incorrect.">
            <a:extLst>
              <a:ext uri="{FF2B5EF4-FFF2-40B4-BE49-F238E27FC236}">
                <a16:creationId xmlns:a16="http://schemas.microsoft.com/office/drawing/2014/main" id="{9969456C-86B6-F702-86BC-DF6D45711A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199" y="3092821"/>
            <a:ext cx="5140661" cy="2493222"/>
          </a:xfrm>
          <a:prstGeom prst="rect">
            <a:avLst/>
          </a:prstGeom>
        </p:spPr>
      </p:pic>
      <p:pic>
        <p:nvPicPr>
          <p:cNvPr id="5" name="Picture 4" descr="A small electronic device with wires&#10;&#10;AI-generated content may be incorrect.">
            <a:extLst>
              <a:ext uri="{FF2B5EF4-FFF2-40B4-BE49-F238E27FC236}">
                <a16:creationId xmlns:a16="http://schemas.microsoft.com/office/drawing/2014/main" id="{46EBF5FB-6A25-AA42-817D-24A87F5E4B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547" t="14728" r="2115" b="42379"/>
          <a:stretch/>
        </p:blipFill>
        <p:spPr bwMode="auto">
          <a:xfrm>
            <a:off x="6213142" y="2730038"/>
            <a:ext cx="5140656" cy="3218790"/>
          </a:xfrm>
          <a:prstGeom prst="rect">
            <a:avLst/>
          </a:prstGeom>
          <a:extLst>
            <a:ext uri="{53640926-AAD7-44D8-BBD7-CCE9431645EC}">
              <a14:shadowObscured xmlns:a14="http://schemas.microsoft.com/office/drawing/2010/main"/>
            </a:ext>
          </a:extLst>
        </p:spPr>
      </p:pic>
      <p:sp>
        <p:nvSpPr>
          <p:cNvPr id="3" name="Footer Placeholder 2">
            <a:extLst>
              <a:ext uri="{FF2B5EF4-FFF2-40B4-BE49-F238E27FC236}">
                <a16:creationId xmlns:a16="http://schemas.microsoft.com/office/drawing/2014/main" id="{8A4F3427-4118-8C33-6CF2-9598F911772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noProof="0">
                <a:solidFill>
                  <a:schemeClr val="tx1">
                    <a:lumMod val="50000"/>
                    <a:lumOff val="50000"/>
                  </a:schemeClr>
                </a:solidFill>
                <a:latin typeface="+mn-lt"/>
                <a:ea typeface="+mn-ea"/>
                <a:cs typeface="+mn-cs"/>
              </a:rPr>
              <a:t>Frankfurt University of Applied Sciences 2024/25</a:t>
            </a:r>
          </a:p>
        </p:txBody>
      </p:sp>
    </p:spTree>
    <p:extLst>
      <p:ext uri="{BB962C8B-B14F-4D97-AF65-F5344CB8AC3E}">
        <p14:creationId xmlns:p14="http://schemas.microsoft.com/office/powerpoint/2010/main" val="3873584532"/>
      </p:ext>
    </p:extLst>
  </p:cSld>
  <p:clrMapOvr>
    <a:masterClrMapping/>
  </p:clrMapOvr>
  <mc:AlternateContent xmlns:mc="http://schemas.openxmlformats.org/markup-compatibility/2006" xmlns:p14="http://schemas.microsoft.com/office/powerpoint/2010/main">
    <mc:Choice Requires="p14">
      <p:transition spd="slow" p14:dur="2000" advTm="274"/>
    </mc:Choice>
    <mc:Fallback xmlns="">
      <p:transition spd="slow" advTm="27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5B5A98-BF82-4A36-8FC0-B14AA1A94951}"/>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D7D03296-BABA-47AD-A5D5-ED156727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B267FB-F76C-5845-F06A-0FC60DD12485}"/>
              </a:ext>
            </a:extLst>
          </p:cNvPr>
          <p:cNvSpPr>
            <a:spLocks noGrp="1"/>
          </p:cNvSpPr>
          <p:nvPr>
            <p:ph type="title"/>
          </p:nvPr>
        </p:nvSpPr>
        <p:spPr>
          <a:xfrm>
            <a:off x="838200" y="226061"/>
            <a:ext cx="10515600" cy="1092050"/>
          </a:xfrm>
        </p:spPr>
        <p:txBody>
          <a:bodyPr vert="horz" lIns="91440" tIns="45720" rIns="91440" bIns="45720" rtlCol="0" anchor="b">
            <a:normAutofit/>
          </a:bodyPr>
          <a:lstStyle/>
          <a:p>
            <a:pPr algn="ctr"/>
            <a:r>
              <a:rPr lang="en-US" sz="5200" noProof="0"/>
              <a:t>RESULTS</a:t>
            </a:r>
          </a:p>
        </p:txBody>
      </p:sp>
      <p:sp useBgFill="1">
        <p:nvSpPr>
          <p:cNvPr id="56" name="Rectangle 55">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396083"/>
            <a:ext cx="10515599" cy="82296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849DA2E9-23C2-5D2F-5D15-9C0C681FE8B4}"/>
              </a:ext>
            </a:extLst>
          </p:cNvPr>
          <p:cNvSpPr>
            <a:spLocks noGrp="1"/>
          </p:cNvSpPr>
          <p:nvPr>
            <p:ph idx="1"/>
          </p:nvPr>
        </p:nvSpPr>
        <p:spPr>
          <a:xfrm>
            <a:off x="1220089" y="1511968"/>
            <a:ext cx="9751823" cy="582612"/>
          </a:xfrm>
        </p:spPr>
        <p:txBody>
          <a:bodyPr vert="horz" lIns="91440" tIns="45720" rIns="91440" bIns="45720" rtlCol="0" anchor="ctr">
            <a:normAutofit/>
          </a:bodyPr>
          <a:lstStyle/>
          <a:p>
            <a:pPr marL="0" indent="0" algn="ctr">
              <a:buNone/>
            </a:pPr>
            <a:r>
              <a:rPr lang="en-US" sz="2400" noProof="0"/>
              <a:t>Object Classification report and Confusion Matrix analysis</a:t>
            </a:r>
          </a:p>
        </p:txBody>
      </p:sp>
      <p:sp>
        <p:nvSpPr>
          <p:cNvPr id="58" name="Rectangle 57">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41136" y="1859832"/>
            <a:ext cx="109728"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0B4AE7F9-BF8B-7C68-0C37-467CB97B21C4}"/>
              </a:ext>
            </a:extLst>
          </p:cNvPr>
          <p:cNvPicPr>
            <a:picLocks noChangeAspect="1"/>
          </p:cNvPicPr>
          <p:nvPr/>
        </p:nvPicPr>
        <p:blipFill>
          <a:blip r:embed="rId3"/>
          <a:stretch>
            <a:fillRect/>
          </a:stretch>
        </p:blipFill>
        <p:spPr>
          <a:xfrm>
            <a:off x="955337" y="2559368"/>
            <a:ext cx="5140661" cy="1979153"/>
          </a:xfrm>
          <a:prstGeom prst="rect">
            <a:avLst/>
          </a:prstGeom>
        </p:spPr>
      </p:pic>
      <p:pic>
        <p:nvPicPr>
          <p:cNvPr id="9" name="Picture 8">
            <a:extLst>
              <a:ext uri="{FF2B5EF4-FFF2-40B4-BE49-F238E27FC236}">
                <a16:creationId xmlns:a16="http://schemas.microsoft.com/office/drawing/2014/main" id="{2687B67F-2741-4B35-C1A7-A6DA69BF1F12}"/>
              </a:ext>
            </a:extLst>
          </p:cNvPr>
          <p:cNvPicPr>
            <a:picLocks noChangeAspect="1"/>
          </p:cNvPicPr>
          <p:nvPr/>
        </p:nvPicPr>
        <p:blipFill>
          <a:blip r:embed="rId4"/>
          <a:stretch>
            <a:fillRect/>
          </a:stretch>
        </p:blipFill>
        <p:spPr>
          <a:xfrm>
            <a:off x="6474019" y="2399494"/>
            <a:ext cx="4618902" cy="3879878"/>
          </a:xfrm>
          <a:prstGeom prst="rect">
            <a:avLst/>
          </a:prstGeom>
        </p:spPr>
      </p:pic>
      <p:sp>
        <p:nvSpPr>
          <p:cNvPr id="3" name="Footer Placeholder 2">
            <a:extLst>
              <a:ext uri="{FF2B5EF4-FFF2-40B4-BE49-F238E27FC236}">
                <a16:creationId xmlns:a16="http://schemas.microsoft.com/office/drawing/2014/main" id="{096B885A-B5C1-5C23-0AE9-60B197057910}"/>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noProof="0">
                <a:solidFill>
                  <a:schemeClr val="tx1">
                    <a:lumMod val="50000"/>
                    <a:lumOff val="50000"/>
                  </a:schemeClr>
                </a:solidFill>
                <a:latin typeface="+mn-lt"/>
                <a:ea typeface="+mn-ea"/>
                <a:cs typeface="+mn-cs"/>
              </a:rPr>
              <a:t>Frankfurt University of Applied Sciences 2024/25</a:t>
            </a:r>
          </a:p>
        </p:txBody>
      </p:sp>
      <p:pic>
        <p:nvPicPr>
          <p:cNvPr id="10" name="Picture 9">
            <a:extLst>
              <a:ext uri="{FF2B5EF4-FFF2-40B4-BE49-F238E27FC236}">
                <a16:creationId xmlns:a16="http://schemas.microsoft.com/office/drawing/2014/main" id="{A1FF8E38-69B6-E7FE-DACA-254D3869DBC2}"/>
              </a:ext>
            </a:extLst>
          </p:cNvPr>
          <p:cNvPicPr>
            <a:picLocks noChangeAspect="1"/>
          </p:cNvPicPr>
          <p:nvPr/>
        </p:nvPicPr>
        <p:blipFill rotWithShape="1">
          <a:blip r:embed="rId5"/>
          <a:srcRect b="7301"/>
          <a:stretch/>
        </p:blipFill>
        <p:spPr bwMode="auto">
          <a:xfrm>
            <a:off x="955337" y="4615499"/>
            <a:ext cx="4072814" cy="11714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39110347"/>
      </p:ext>
    </p:extLst>
  </p:cSld>
  <p:clrMapOvr>
    <a:masterClrMapping/>
  </p:clrMapOvr>
  <mc:AlternateContent xmlns:mc="http://schemas.openxmlformats.org/markup-compatibility/2006" xmlns:p14="http://schemas.microsoft.com/office/powerpoint/2010/main">
    <mc:Choice Requires="p14">
      <p:transition spd="slow" p14:dur="2000" advTm="274"/>
    </mc:Choice>
    <mc:Fallback xmlns="">
      <p:transition spd="slow" advTm="27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20AFFA80-11FC-53C1-E09E-5483B895EA02}"/>
              </a:ext>
            </a:extLst>
          </p:cNvPr>
          <p:cNvSpPr>
            <a:spLocks noGrp="1"/>
          </p:cNvSpPr>
          <p:nvPr>
            <p:ph type="title"/>
          </p:nvPr>
        </p:nvSpPr>
        <p:spPr>
          <a:xfrm>
            <a:off x="808638" y="386930"/>
            <a:ext cx="9236700" cy="1188950"/>
          </a:xfrm>
        </p:spPr>
        <p:txBody>
          <a:bodyPr anchor="b">
            <a:normAutofit/>
          </a:bodyPr>
          <a:lstStyle/>
          <a:p>
            <a:r>
              <a:rPr lang="en-GB" sz="3600" noProof="0" dirty="0">
                <a:latin typeface="Times New Roman" panose="02020603050405020304" pitchFamily="18" charset="0"/>
                <a:cs typeface="Times New Roman" panose="02020603050405020304" pitchFamily="18" charset="0"/>
              </a:rPr>
              <a:t>CONCLUSION</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Content Placeholder 2">
            <a:extLst>
              <a:ext uri="{FF2B5EF4-FFF2-40B4-BE49-F238E27FC236}">
                <a16:creationId xmlns:a16="http://schemas.microsoft.com/office/drawing/2014/main" id="{D6DE752D-E80B-76EF-2911-21C7AC530205}"/>
              </a:ext>
            </a:extLst>
          </p:cNvPr>
          <p:cNvSpPr>
            <a:spLocks noGrp="1"/>
          </p:cNvSpPr>
          <p:nvPr>
            <p:ph idx="1"/>
          </p:nvPr>
        </p:nvSpPr>
        <p:spPr>
          <a:xfrm>
            <a:off x="793660" y="2599509"/>
            <a:ext cx="10143668" cy="3435531"/>
          </a:xfrm>
        </p:spPr>
        <p:txBody>
          <a:bodyPr anchor="ctr">
            <a:normAutofit/>
          </a:bodyPr>
          <a:lstStyle/>
          <a:p>
            <a:pPr marL="0" indent="0">
              <a:buNone/>
            </a:pPr>
            <a:r>
              <a:rPr lang="en-GB" sz="1800" noProof="0" dirty="0">
                <a:latin typeface="Times New Roman" panose="02020603050405020304" pitchFamily="18" charset="0"/>
                <a:cs typeface="Times New Roman" panose="02020603050405020304" pitchFamily="18" charset="0"/>
              </a:rPr>
              <a:t>This machine learning project based on horizontal perpendicular FIUS sensor detect the object type and the distance of that object by analysing the signal data found from the ultrasonic sensor. Several preprocessing techniques have been applied on the data like filtering and PSD for feeding this signal into the machine learning model. For detecting real world object eco positions and type of objects, this project gives a proper accuracy on the ultrasonic sensor signal data. </a:t>
            </a:r>
          </a:p>
        </p:txBody>
      </p:sp>
      <p:sp>
        <p:nvSpPr>
          <p:cNvPr id="4" name="Footer Placeholder 3">
            <a:extLst>
              <a:ext uri="{FF2B5EF4-FFF2-40B4-BE49-F238E27FC236}">
                <a16:creationId xmlns:a16="http://schemas.microsoft.com/office/drawing/2014/main" id="{D8BF6059-C81B-AC97-B803-C5DCECE9190B}"/>
              </a:ext>
            </a:extLst>
          </p:cNvPr>
          <p:cNvSpPr>
            <a:spLocks noGrp="1"/>
          </p:cNvSpPr>
          <p:nvPr>
            <p:ph type="ftr" sz="quarter" idx="11"/>
          </p:nvPr>
        </p:nvSpPr>
        <p:spPr>
          <a:xfrm>
            <a:off x="4038600" y="6492240"/>
            <a:ext cx="4114800" cy="365125"/>
          </a:xfrm>
        </p:spPr>
        <p:txBody>
          <a:bodyPr>
            <a:normAutofit/>
          </a:bodyPr>
          <a:lstStyle/>
          <a:p>
            <a:pPr>
              <a:spcAft>
                <a:spcPts val="600"/>
              </a:spcAft>
            </a:pPr>
            <a:r>
              <a:rPr lang="en-GB" noProof="0" dirty="0"/>
              <a:t>Frankfurt University of Applied Sciences 2024/25</a:t>
            </a:r>
          </a:p>
        </p:txBody>
      </p:sp>
    </p:spTree>
    <p:extLst>
      <p:ext uri="{BB962C8B-B14F-4D97-AF65-F5344CB8AC3E}">
        <p14:creationId xmlns:p14="http://schemas.microsoft.com/office/powerpoint/2010/main" val="1608301487"/>
      </p:ext>
    </p:extLst>
  </p:cSld>
  <p:clrMapOvr>
    <a:masterClrMapping/>
  </p:clrMapOvr>
  <mc:AlternateContent xmlns:mc="http://schemas.openxmlformats.org/markup-compatibility/2006" xmlns:p14="http://schemas.microsoft.com/office/powerpoint/2010/main">
    <mc:Choice Requires="p14">
      <p:transition spd="slow" p14:dur="2000" advTm="201"/>
    </mc:Choice>
    <mc:Fallback xmlns="">
      <p:transition spd="slow" advTm="20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E316B630-772A-085A-0A9D-AC3767866A93}"/>
              </a:ext>
            </a:extLst>
          </p:cNvPr>
          <p:cNvSpPr>
            <a:spLocks noGrp="1"/>
          </p:cNvSpPr>
          <p:nvPr>
            <p:ph type="title"/>
          </p:nvPr>
        </p:nvSpPr>
        <p:spPr>
          <a:xfrm>
            <a:off x="808638" y="386930"/>
            <a:ext cx="9236700" cy="1188950"/>
          </a:xfrm>
        </p:spPr>
        <p:txBody>
          <a:bodyPr anchor="b">
            <a:normAutofit/>
          </a:bodyPr>
          <a:lstStyle/>
          <a:p>
            <a:r>
              <a:rPr lang="en-GB" sz="3600" noProof="0" dirty="0">
                <a:latin typeface="Times New Roman" panose="02020603050405020304" pitchFamily="18" charset="0"/>
                <a:cs typeface="Times New Roman" panose="02020603050405020304" pitchFamily="18" charset="0"/>
              </a:rPr>
              <a:t>REFERENCES:</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Content Placeholder 2">
            <a:extLst>
              <a:ext uri="{FF2B5EF4-FFF2-40B4-BE49-F238E27FC236}">
                <a16:creationId xmlns:a16="http://schemas.microsoft.com/office/drawing/2014/main" id="{9B7A8B67-C72C-AC6C-E88B-3A6CF55F7DDF}"/>
              </a:ext>
            </a:extLst>
          </p:cNvPr>
          <p:cNvSpPr>
            <a:spLocks noGrp="1"/>
          </p:cNvSpPr>
          <p:nvPr>
            <p:ph idx="1"/>
          </p:nvPr>
        </p:nvSpPr>
        <p:spPr>
          <a:xfrm>
            <a:off x="793660" y="2599509"/>
            <a:ext cx="10143668" cy="3435531"/>
          </a:xfrm>
        </p:spPr>
        <p:txBody>
          <a:bodyPr anchor="ctr">
            <a:normAutofit/>
          </a:bodyPr>
          <a:lstStyle/>
          <a:p>
            <a:pPr marL="0" indent="0">
              <a:buNone/>
            </a:pPr>
            <a:endParaRPr lang="en-GB" sz="2000" noProof="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B4339F1-93F9-D19C-F64F-8B8D8463EFFB}"/>
              </a:ext>
            </a:extLst>
          </p:cNvPr>
          <p:cNvSpPr>
            <a:spLocks noGrp="1"/>
          </p:cNvSpPr>
          <p:nvPr>
            <p:ph type="ftr" sz="quarter" idx="11"/>
          </p:nvPr>
        </p:nvSpPr>
        <p:spPr>
          <a:xfrm>
            <a:off x="4038600" y="6492240"/>
            <a:ext cx="4114800" cy="365125"/>
          </a:xfrm>
        </p:spPr>
        <p:txBody>
          <a:bodyPr>
            <a:normAutofit/>
          </a:bodyPr>
          <a:lstStyle/>
          <a:p>
            <a:pPr>
              <a:spcAft>
                <a:spcPts val="600"/>
              </a:spcAft>
            </a:pPr>
            <a:r>
              <a:rPr lang="en-GB" noProof="0" dirty="0"/>
              <a:t>Frankfurt University of Applied Sciences 2024/25</a:t>
            </a:r>
          </a:p>
        </p:txBody>
      </p:sp>
    </p:spTree>
    <p:extLst>
      <p:ext uri="{BB962C8B-B14F-4D97-AF65-F5344CB8AC3E}">
        <p14:creationId xmlns:p14="http://schemas.microsoft.com/office/powerpoint/2010/main" val="2790346635"/>
      </p:ext>
    </p:extLst>
  </p:cSld>
  <p:clrMapOvr>
    <a:masterClrMapping/>
  </p:clrMapOvr>
  <mc:AlternateContent xmlns:mc="http://schemas.openxmlformats.org/markup-compatibility/2006" xmlns:p14="http://schemas.microsoft.com/office/powerpoint/2010/main">
    <mc:Choice Requires="p14">
      <p:transition spd="slow" p14:dur="2000" advTm="195"/>
    </mc:Choice>
    <mc:Fallback xmlns="">
      <p:transition spd="slow" advTm="19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D2EFEC94-96DF-7C29-D206-07113F64CB33}"/>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GB" sz="7200" kern="1200" noProof="0" dirty="0">
                <a:solidFill>
                  <a:schemeClr val="tx1"/>
                </a:solidFill>
                <a:latin typeface="+mj-lt"/>
                <a:ea typeface="+mj-ea"/>
                <a:cs typeface="+mj-cs"/>
              </a:rPr>
              <a:t>Thank You</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9EF42261-F35A-2F4C-FC5D-271E88A608D3}"/>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a:spcAft>
                <a:spcPts val="600"/>
              </a:spcAft>
            </a:pPr>
            <a:r>
              <a:rPr lang="en-GB" kern="1200" noProof="0" dirty="0">
                <a:solidFill>
                  <a:schemeClr val="tx1">
                    <a:tint val="75000"/>
                  </a:schemeClr>
                </a:solidFill>
                <a:latin typeface="+mn-lt"/>
                <a:ea typeface="+mn-ea"/>
                <a:cs typeface="+mn-cs"/>
              </a:rPr>
              <a:t>Frankfurt University of Applied Sciences 2024/25</a:t>
            </a:r>
          </a:p>
        </p:txBody>
      </p:sp>
    </p:spTree>
    <p:extLst>
      <p:ext uri="{BB962C8B-B14F-4D97-AF65-F5344CB8AC3E}">
        <p14:creationId xmlns:p14="http://schemas.microsoft.com/office/powerpoint/2010/main" val="4188928716"/>
      </p:ext>
    </p:extLst>
  </p:cSld>
  <p:clrMapOvr>
    <a:masterClrMapping/>
  </p:clrMapOvr>
  <mc:AlternateContent xmlns:mc="http://schemas.openxmlformats.org/markup-compatibility/2006" xmlns:p14="http://schemas.microsoft.com/office/powerpoint/2010/main">
    <mc:Choice Requires="p14">
      <p:transition spd="slow" p14:dur="2000" advTm="719"/>
    </mc:Choice>
    <mc:Fallback xmlns="">
      <p:transition spd="slow" advTm="7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TotalTime>
  <Words>377</Words>
  <Application>Microsoft Macintosh PowerPoint</Application>
  <PresentationFormat>Widescreen</PresentationFormat>
  <Paragraphs>80</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Calibri</vt:lpstr>
      <vt:lpstr>Times New Roman</vt:lpstr>
      <vt:lpstr>Wingdings</vt:lpstr>
      <vt:lpstr>Office Theme</vt:lpstr>
      <vt:lpstr>Machine Learning</vt:lpstr>
      <vt:lpstr>  OBJECTIVE</vt:lpstr>
      <vt:lpstr>TABLE OF CONTENT</vt:lpstr>
      <vt:lpstr>INTRODUCTION</vt:lpstr>
      <vt:lpstr>BACKGROUND</vt:lpstr>
      <vt:lpstr>METHODOLOGY </vt:lpstr>
      <vt:lpstr>METHODOLOGY </vt:lpstr>
      <vt:lpstr>METHODOLOGY </vt:lpstr>
      <vt:lpstr>RESULTS</vt:lpstr>
      <vt:lpstr>RESULTS</vt:lpstr>
      <vt:lpstr>RESULTS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ML22/23-15 Approve Prediction of Multisequence Learning</dc:title>
  <dc:creator>Faizan;Jasim</dc:creator>
  <cp:lastModifiedBy>Saiem Solimullah</cp:lastModifiedBy>
  <cp:revision>123</cp:revision>
  <dcterms:created xsi:type="dcterms:W3CDTF">2023-03-27T19:52:01Z</dcterms:created>
  <dcterms:modified xsi:type="dcterms:W3CDTF">2025-03-29T22:10:57Z</dcterms:modified>
</cp:coreProperties>
</file>